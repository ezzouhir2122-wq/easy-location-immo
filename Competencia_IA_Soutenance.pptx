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49bac5a234cb6" /><Relationship Type="http://schemas.openxmlformats.org/officeDocument/2006/relationships/extended-properties" Target="/docProps/app.xml" Id="Rf06cb9c8e7dd46d4" /><Relationship Type="http://schemas.openxmlformats.org/officeDocument/2006/relationships/officeDocument" Target="/ppt/presentation.xml" Id="R52ca0006a2a848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c486e5514498e"/>
  </p:sldMasterIdLst>
  <p:notesMasterIdLst>
    <p:notesMasterId xmlns:r="http://schemas.openxmlformats.org/officeDocument/2006/relationships" r:id="Rbfbe03796d6b4644"/>
  </p:notesMasterIdLst>
  <p:sldIdLst>
    <p:sldId xmlns:r="http://schemas.openxmlformats.org/officeDocument/2006/relationships" id="256" r:id="Rc1acd520b25c4901"/>
    <p:sldId xmlns:r="http://schemas.openxmlformats.org/officeDocument/2006/relationships" id="257" r:id="R90cbeda59cae497d"/>
    <p:sldId xmlns:r="http://schemas.openxmlformats.org/officeDocument/2006/relationships" id="258" r:id="Rf8523825101e49d0"/>
    <p:sldId xmlns:r="http://schemas.openxmlformats.org/officeDocument/2006/relationships" id="259" r:id="R6f6cc6f0cfa54ea1"/>
    <p:sldId xmlns:r="http://schemas.openxmlformats.org/officeDocument/2006/relationships" id="260" r:id="Rd530797c54744441"/>
    <p:sldId xmlns:r="http://schemas.openxmlformats.org/officeDocument/2006/relationships" id="261" r:id="R927192de25a34e24"/>
    <p:sldId xmlns:r="http://schemas.openxmlformats.org/officeDocument/2006/relationships" id="262" r:id="R1c6bdec391f94077"/>
    <p:sldId xmlns:r="http://schemas.openxmlformats.org/officeDocument/2006/relationships" id="263" r:id="Rd9f7004f55f1432a"/>
    <p:sldId xmlns:r="http://schemas.openxmlformats.org/officeDocument/2006/relationships" id="264" r:id="Rf3fc76810f654bdd"/>
    <p:sldId xmlns:r="http://schemas.openxmlformats.org/officeDocument/2006/relationships" id="265" r:id="R834447305f714557"/>
    <p:sldId xmlns:r="http://schemas.openxmlformats.org/officeDocument/2006/relationships" id="266" r:id="R40369d178ab944ea"/>
    <p:sldId xmlns:r="http://schemas.openxmlformats.org/officeDocument/2006/relationships" id="267" r:id="R164af8760a914c91"/>
    <p:sldId xmlns:r="http://schemas.openxmlformats.org/officeDocument/2006/relationships" id="268" r:id="R39100c6ceefc4f44"/>
    <p:sldId xmlns:r="http://schemas.openxmlformats.org/officeDocument/2006/relationships" id="269" r:id="R276f36221cc04e32"/>
    <p:sldId xmlns:r="http://schemas.openxmlformats.org/officeDocument/2006/relationships" id="270" r:id="Re710249eb4624651"/>
    <p:sldId xmlns:r="http://schemas.openxmlformats.org/officeDocument/2006/relationships" id="271" r:id="R465c73e2a85e4814"/>
    <p:sldId xmlns:r="http://schemas.openxmlformats.org/officeDocument/2006/relationships" id="272" r:id="R2158782df727454c"/>
    <p:sldId xmlns:r="http://schemas.openxmlformats.org/officeDocument/2006/relationships" id="273" r:id="R026fd9114a274dcb"/>
    <p:sldId xmlns:r="http://schemas.openxmlformats.org/officeDocument/2006/relationships" id="274" r:id="R2d77fe932cbe430f"/>
    <p:sldId xmlns:r="http://schemas.openxmlformats.org/officeDocument/2006/relationships" id="275" r:id="Rbbcc7c3f3f514e83"/>
    <p:sldId xmlns:r="http://schemas.openxmlformats.org/officeDocument/2006/relationships" id="276" r:id="R99c9b0e030324c6c"/>
    <p:sldId xmlns:r="http://schemas.openxmlformats.org/officeDocument/2006/relationships" id="277" r:id="R85caefa7010a4101"/>
    <p:sldId xmlns:r="http://schemas.openxmlformats.org/officeDocument/2006/relationships" id="278" r:id="Rffe418e895484c88"/>
    <p:sldId xmlns:r="http://schemas.openxmlformats.org/officeDocument/2006/relationships" id="279" r:id="R212c9feb69f54bf5"/>
    <p:sldId xmlns:r="http://schemas.openxmlformats.org/officeDocument/2006/relationships" id="280" r:id="Rc68b516b91644b40"/>
    <p:sldId xmlns:r="http://schemas.openxmlformats.org/officeDocument/2006/relationships" id="281" r:id="Ra66cde0baefb4527"/>
    <p:sldId xmlns:r="http://schemas.openxmlformats.org/officeDocument/2006/relationships" id="282" r:id="Re2589916a1cc4c67"/>
    <p:sldId xmlns:r="http://schemas.openxmlformats.org/officeDocument/2006/relationships" id="283" r:id="R8952809b6ff34b6b"/>
    <p:sldId xmlns:r="http://schemas.openxmlformats.org/officeDocument/2006/relationships" id="284" r:id="Rc56996e2fa2a4132"/>
    <p:sldId xmlns:r="http://schemas.openxmlformats.org/officeDocument/2006/relationships" id="285" r:id="Recaacb0d17544540"/>
    <p:sldId xmlns:r="http://schemas.openxmlformats.org/officeDocument/2006/relationships" id="286" r:id="R5a9a878216f24965"/>
    <p:sldId xmlns:r="http://schemas.openxmlformats.org/officeDocument/2006/relationships" id="287" r:id="Rd96096a9c2264a75"/>
    <p:sldId xmlns:r="http://schemas.openxmlformats.org/officeDocument/2006/relationships" id="288" r:id="R6fdc4a4a133e46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0e0ddc3ae94078" /><Relationship Type="http://schemas.openxmlformats.org/officeDocument/2006/relationships/slideMaster" Target="/ppt/slideMasters/slideMaster1.xml" Id="R458c486e5514498e" /><Relationship Type="http://schemas.openxmlformats.org/officeDocument/2006/relationships/notesMaster" Target="/ppt/notesMasters/notesMaster1.xml" Id="Rbfbe03796d6b4644" /><Relationship Type="http://schemas.openxmlformats.org/officeDocument/2006/relationships/presProps" Target="/ppt/presProps.xml" Id="R2be99d97370346a1" /><Relationship Type="http://schemas.openxmlformats.org/officeDocument/2006/relationships/tableStyles" Target="/ppt/tableStyles.xml" Id="R35653cf485f548b7" /><Relationship Type="http://schemas.openxmlformats.org/officeDocument/2006/relationships/slide" Target="/ppt/slides/slide1.xml" Id="Rc1acd520b25c4901" /><Relationship Type="http://schemas.openxmlformats.org/officeDocument/2006/relationships/slide" Target="/ppt/slides/slide2.xml" Id="R90cbeda59cae497d" /><Relationship Type="http://schemas.openxmlformats.org/officeDocument/2006/relationships/slide" Target="/ppt/slides/slide3.xml" Id="Rf8523825101e49d0" /><Relationship Type="http://schemas.openxmlformats.org/officeDocument/2006/relationships/slide" Target="/ppt/slides/slide4.xml" Id="R6f6cc6f0cfa54ea1" /><Relationship Type="http://schemas.openxmlformats.org/officeDocument/2006/relationships/slide" Target="/ppt/slides/slide5.xml" Id="Rd530797c54744441" /><Relationship Type="http://schemas.openxmlformats.org/officeDocument/2006/relationships/slide" Target="/ppt/slides/slide6.xml" Id="R927192de25a34e24" /><Relationship Type="http://schemas.openxmlformats.org/officeDocument/2006/relationships/slide" Target="/ppt/slides/slide7.xml" Id="R1c6bdec391f94077" /><Relationship Type="http://schemas.openxmlformats.org/officeDocument/2006/relationships/slide" Target="/ppt/slides/slide8.xml" Id="Rd9f7004f55f1432a" /><Relationship Type="http://schemas.openxmlformats.org/officeDocument/2006/relationships/slide" Target="/ppt/slides/slide9.xml" Id="Rf3fc76810f654bdd" /><Relationship Type="http://schemas.openxmlformats.org/officeDocument/2006/relationships/slide" Target="/ppt/slides/slide10.xml" Id="R834447305f714557" /><Relationship Type="http://schemas.openxmlformats.org/officeDocument/2006/relationships/slide" Target="/ppt/slides/slide11.xml" Id="R40369d178ab944ea" /><Relationship Type="http://schemas.openxmlformats.org/officeDocument/2006/relationships/slide" Target="/ppt/slides/slide12.xml" Id="R164af8760a914c91" /><Relationship Type="http://schemas.openxmlformats.org/officeDocument/2006/relationships/slide" Target="/ppt/slides/slide13.xml" Id="R39100c6ceefc4f44" /><Relationship Type="http://schemas.openxmlformats.org/officeDocument/2006/relationships/slide" Target="/ppt/slides/slide14.xml" Id="R276f36221cc04e32" /><Relationship Type="http://schemas.openxmlformats.org/officeDocument/2006/relationships/slide" Target="/ppt/slides/slide15.xml" Id="Re710249eb4624651" /><Relationship Type="http://schemas.openxmlformats.org/officeDocument/2006/relationships/slide" Target="/ppt/slides/slide16.xml" Id="R465c73e2a85e4814" /><Relationship Type="http://schemas.openxmlformats.org/officeDocument/2006/relationships/slide" Target="/ppt/slides/slide17.xml" Id="R2158782df727454c" /><Relationship Type="http://schemas.openxmlformats.org/officeDocument/2006/relationships/slide" Target="/ppt/slides/slide18.xml" Id="R026fd9114a274dcb" /><Relationship Type="http://schemas.openxmlformats.org/officeDocument/2006/relationships/slide" Target="/ppt/slides/slide19.xml" Id="R2d77fe932cbe430f" /><Relationship Type="http://schemas.openxmlformats.org/officeDocument/2006/relationships/slide" Target="/ppt/slides/slide20.xml" Id="Rbbcc7c3f3f514e83" /><Relationship Type="http://schemas.openxmlformats.org/officeDocument/2006/relationships/slide" Target="/ppt/slides/slide21.xml" Id="R99c9b0e030324c6c" /><Relationship Type="http://schemas.openxmlformats.org/officeDocument/2006/relationships/slide" Target="/ppt/slides/slide22.xml" Id="R85caefa7010a4101" /><Relationship Type="http://schemas.openxmlformats.org/officeDocument/2006/relationships/slide" Target="/ppt/slides/slide23.xml" Id="Rffe418e895484c88" /><Relationship Type="http://schemas.openxmlformats.org/officeDocument/2006/relationships/slide" Target="/ppt/slides/slide24.xml" Id="R212c9feb69f54bf5" /><Relationship Type="http://schemas.openxmlformats.org/officeDocument/2006/relationships/slide" Target="/ppt/slides/slide25.xml" Id="Rc68b516b91644b40" /><Relationship Type="http://schemas.openxmlformats.org/officeDocument/2006/relationships/slide" Target="/ppt/slides/slide26.xml" Id="Ra66cde0baefb4527" /><Relationship Type="http://schemas.openxmlformats.org/officeDocument/2006/relationships/slide" Target="/ppt/slides/slide27.xml" Id="Re2589916a1cc4c67" /><Relationship Type="http://schemas.openxmlformats.org/officeDocument/2006/relationships/slide" Target="/ppt/slides/slide28.xml" Id="R8952809b6ff34b6b" /><Relationship Type="http://schemas.openxmlformats.org/officeDocument/2006/relationships/slide" Target="/ppt/slides/slide29.xml" Id="Rc56996e2fa2a4132" /><Relationship Type="http://schemas.openxmlformats.org/officeDocument/2006/relationships/slide" Target="/ppt/slides/slide30.xml" Id="Recaacb0d17544540" /><Relationship Type="http://schemas.openxmlformats.org/officeDocument/2006/relationships/slide" Target="/ppt/slides/slide31.xml" Id="R5a9a878216f24965" /><Relationship Type="http://schemas.openxmlformats.org/officeDocument/2006/relationships/slide" Target="/ppt/slides/slide32.xml" Id="Rd96096a9c2264a75" /><Relationship Type="http://schemas.openxmlformats.org/officeDocument/2006/relationships/slide" Target="/ppt/slides/slide33.xml" Id="R6fdc4a4a133e46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b94e2b87747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330cfd250440d" /><Relationship Type="http://schemas.openxmlformats.org/officeDocument/2006/relationships/notesMaster" Target="/ppt/notesMasters/notesMaster1.xml" Id="R862b09c140e04b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79db73534c434f" /><Relationship Type="http://schemas.openxmlformats.org/officeDocument/2006/relationships/notesMaster" Target="/ppt/notesMasters/notesMaster1.xml" Id="Ra296a973b8784c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24c3642bf47e4" /><Relationship Type="http://schemas.openxmlformats.org/officeDocument/2006/relationships/notesMaster" Target="/ppt/notesMasters/notesMaster1.xml" Id="Rdbee2ba166004b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a7ffb77841406a" /><Relationship Type="http://schemas.openxmlformats.org/officeDocument/2006/relationships/notesMaster" Target="/ppt/notesMasters/notesMaster1.xml" Id="Rf03e901de4ce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d82383f87449e6" /><Relationship Type="http://schemas.openxmlformats.org/officeDocument/2006/relationships/notesMaster" Target="/ppt/notesMasters/notesMaster1.xml" Id="R108e3ec2a9e8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768517509f4d6e" /><Relationship Type="http://schemas.openxmlformats.org/officeDocument/2006/relationships/notesMaster" Target="/ppt/notesMasters/notesMaster1.xml" Id="R8d7d55f4cc1c4b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f3d315c7644a8" /><Relationship Type="http://schemas.openxmlformats.org/officeDocument/2006/relationships/notesMaster" Target="/ppt/notesMasters/notesMaster1.xml" Id="R37a4dd10a53841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306a2a6dc44e1d" /><Relationship Type="http://schemas.openxmlformats.org/officeDocument/2006/relationships/notesMaster" Target="/ppt/notesMasters/notesMaster1.xml" Id="R7712cbb56c8a47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51102eaa32417b" /><Relationship Type="http://schemas.openxmlformats.org/officeDocument/2006/relationships/notesMaster" Target="/ppt/notesMasters/notesMaster1.xml" Id="R00be65b8b96a4d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fa48ec09374f9c" /><Relationship Type="http://schemas.openxmlformats.org/officeDocument/2006/relationships/notesMaster" Target="/ppt/notesMasters/notesMaster1.xml" Id="R67f12912cdc948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63a6601de14127" /><Relationship Type="http://schemas.openxmlformats.org/officeDocument/2006/relationships/notesMaster" Target="/ppt/notesMasters/notesMaster1.xml" Id="Rb893f02a83ff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dff9f332c34cc1" /><Relationship Type="http://schemas.openxmlformats.org/officeDocument/2006/relationships/notesMaster" Target="/ppt/notesMasters/notesMaster1.xml" Id="Rac75e20fd12d4c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d3caee52b648c7" /><Relationship Type="http://schemas.openxmlformats.org/officeDocument/2006/relationships/notesMaster" Target="/ppt/notesMasters/notesMaster1.xml" Id="R76eece7ad53042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8bc6e8075146be" /><Relationship Type="http://schemas.openxmlformats.org/officeDocument/2006/relationships/notesMaster" Target="/ppt/notesMasters/notesMaster1.xml" Id="R5e05640c003145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01c0fa799047b0" /><Relationship Type="http://schemas.openxmlformats.org/officeDocument/2006/relationships/notesMaster" Target="/ppt/notesMasters/notesMaster1.xml" Id="R83a3037ac46f43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bb152c240c4c64" /><Relationship Type="http://schemas.openxmlformats.org/officeDocument/2006/relationships/notesMaster" Target="/ppt/notesMasters/notesMaster1.xml" Id="R44277ae3d31a4b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f69f3a11904611" /><Relationship Type="http://schemas.openxmlformats.org/officeDocument/2006/relationships/notesMaster" Target="/ppt/notesMasters/notesMaster1.xml" Id="R81723a7f843647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2becae507e446b" /><Relationship Type="http://schemas.openxmlformats.org/officeDocument/2006/relationships/notesMaster" Target="/ppt/notesMasters/notesMaster1.xml" Id="Rc2e110f22b9e4b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6c26bbbab54f87" /><Relationship Type="http://schemas.openxmlformats.org/officeDocument/2006/relationships/notesMaster" Target="/ppt/notesMasters/notesMaster1.xml" Id="Ra29bdf4bc19249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2e4c3282094389" /><Relationship Type="http://schemas.openxmlformats.org/officeDocument/2006/relationships/notesMaster" Target="/ppt/notesMasters/notesMaster1.xml" Id="R7cd21f8f870a40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fc1c4bdc0b4628" /><Relationship Type="http://schemas.openxmlformats.org/officeDocument/2006/relationships/notesMaster" Target="/ppt/notesMasters/notesMaster1.xml" Id="R1a9c4d7ec5034d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0d0cc560f5428f" /><Relationship Type="http://schemas.openxmlformats.org/officeDocument/2006/relationships/notesMaster" Target="/ppt/notesMasters/notesMaster1.xml" Id="R52842e0e3d184d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714d2904794444" /><Relationship Type="http://schemas.openxmlformats.org/officeDocument/2006/relationships/notesMaster" Target="/ppt/notesMasters/notesMaster1.xml" Id="R95e571f9552d42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88a69f4a5be468a" /><Relationship Type="http://schemas.openxmlformats.org/officeDocument/2006/relationships/notesMaster" Target="/ppt/notesMasters/notesMaster1.xml" Id="Rf17f4723311b42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6977b7448a41c8" /><Relationship Type="http://schemas.openxmlformats.org/officeDocument/2006/relationships/notesMaster" Target="/ppt/notesMasters/notesMaster1.xml" Id="R507f09b1973744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7b3f91dec2400b" /><Relationship Type="http://schemas.openxmlformats.org/officeDocument/2006/relationships/notesMaster" Target="/ppt/notesMasters/notesMaster1.xml" Id="Rc5a30499f14646a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ce7bc7c45ec4e5a" /><Relationship Type="http://schemas.openxmlformats.org/officeDocument/2006/relationships/notesMaster" Target="/ppt/notesMasters/notesMaster1.xml" Id="R36e7f4483efe44e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18d65d50cbe480d" /><Relationship Type="http://schemas.openxmlformats.org/officeDocument/2006/relationships/notesMaster" Target="/ppt/notesMasters/notesMaster1.xml" Id="R60db4e13c250490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dc4e13b157462f" /><Relationship Type="http://schemas.openxmlformats.org/officeDocument/2006/relationships/notesMaster" Target="/ppt/notesMasters/notesMaster1.xml" Id="R8c37aeaccd2740a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953b06dee724093" /><Relationship Type="http://schemas.openxmlformats.org/officeDocument/2006/relationships/notesMaster" Target="/ppt/notesMasters/notesMaster1.xml" Id="R90d86f6bcd1b4f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4838b9f7ea24926" /><Relationship Type="http://schemas.openxmlformats.org/officeDocument/2006/relationships/notesMaster" Target="/ppt/notesMasters/notesMaster1.xml" Id="R89b5c8243e8f484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eecec7a74ac4cd8" /><Relationship Type="http://schemas.openxmlformats.org/officeDocument/2006/relationships/notesMaster" Target="/ppt/notesMasters/notesMaster1.xml" Id="Radae2afbf13943a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3a6c257a53413c" /><Relationship Type="http://schemas.openxmlformats.org/officeDocument/2006/relationships/notesMaster" Target="/ppt/notesMasters/notesMaster1.xml" Id="R7ae47306a7d640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  <a:p xmlns:a="http://schemas.openxmlformats.org/drawingml/2006/main">
            <a:r>
              <a:t>Visuel : logo OFPPT extrait du rapport fourni.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Rapport fourni : 1A__Rapport Complet VF_10_07_2026.docx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c4ab0ef424e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4d0bc6d35f4a96" /><Relationship Type="http://schemas.openxmlformats.org/officeDocument/2006/relationships/slideLayout" Target="/ppt/slideLayouts/slideLayout1.xml" Id="R8c044adbe8d44d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44adbe8d44d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3ac92a30c4410" /><Relationship Type="http://schemas.openxmlformats.org/officeDocument/2006/relationships/image" Target="/ppt/media/image.png" Id="R510a0224c6c54670" /><Relationship Type="http://schemas.openxmlformats.org/officeDocument/2006/relationships/notesSlide" Target="/ppt/notesSlides/notesSlide1.xml" Id="R8cbd4905f16143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af32ea50a4a78" /><Relationship Type="http://schemas.openxmlformats.org/officeDocument/2006/relationships/notesSlide" Target="/ppt/notesSlides/notesSlide2.xml" Id="R4037f4976434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f355dec5454b" /><Relationship Type="http://schemas.openxmlformats.org/officeDocument/2006/relationships/notesSlide" Target="/ppt/notesSlides/notesSlide3.xml" Id="R163dfce84e014f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8e8b42cc74a12" /><Relationship Type="http://schemas.openxmlformats.org/officeDocument/2006/relationships/notesSlide" Target="/ppt/notesSlides/notesSlide4.xml" Id="Rc711ce9d8f1d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cebdc32cb4d43" /><Relationship Type="http://schemas.openxmlformats.org/officeDocument/2006/relationships/notesSlide" Target="/ppt/notesSlides/notesSlide5.xml" Id="R58c7e827897540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ff91a96e4468b" /><Relationship Type="http://schemas.openxmlformats.org/officeDocument/2006/relationships/notesSlide" Target="/ppt/notesSlides/notesSlide6.xml" Id="R5faff2a1315c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75d170a2f4c13" /><Relationship Type="http://schemas.openxmlformats.org/officeDocument/2006/relationships/notesSlide" Target="/ppt/notesSlides/notesSlide7.xml" Id="Ra6186597e3584d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8f7a71f044306" /><Relationship Type="http://schemas.openxmlformats.org/officeDocument/2006/relationships/notesSlide" Target="/ppt/notesSlides/notesSlide8.xml" Id="Rf838da69188046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8731975ea4ba2" /><Relationship Type="http://schemas.openxmlformats.org/officeDocument/2006/relationships/notesSlide" Target="/ppt/notesSlides/notesSlide9.xml" Id="Rc10508c73dd748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b0e2393f449d8" /><Relationship Type="http://schemas.openxmlformats.org/officeDocument/2006/relationships/notesSlide" Target="/ppt/notesSlides/notesSlide10.xml" Id="R892df2f8ea3f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591434aec48ae" /><Relationship Type="http://schemas.openxmlformats.org/officeDocument/2006/relationships/notesSlide" Target="/ppt/notesSlides/notesSlide11.xml" Id="Rd32eec67c37345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4f5ba4c2444ef" /><Relationship Type="http://schemas.openxmlformats.org/officeDocument/2006/relationships/image" Target="/ppt/media/image2.png" Id="Rd0b50c3520c74411" /><Relationship Type="http://schemas.openxmlformats.org/officeDocument/2006/relationships/notesSlide" Target="/ppt/notesSlides/notesSlide12.xml" Id="R0fceae0f68df40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70bf5741c438f" /><Relationship Type="http://schemas.openxmlformats.org/officeDocument/2006/relationships/notesSlide" Target="/ppt/notesSlides/notesSlide13.xml" Id="R4fe3818cceaf4e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7dd2338124b00" /><Relationship Type="http://schemas.openxmlformats.org/officeDocument/2006/relationships/notesSlide" Target="/ppt/notesSlides/notesSlide14.xml" Id="R174be956fae949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7187a1aa240bb" /><Relationship Type="http://schemas.openxmlformats.org/officeDocument/2006/relationships/notesSlide" Target="/ppt/notesSlides/notesSlide15.xml" Id="Rfd8f7e8ed91f4e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8f951def4478f" /><Relationship Type="http://schemas.openxmlformats.org/officeDocument/2006/relationships/image" Target="/ppt/media/image3.png" Id="R1b5ee6a9a4054f3c" /><Relationship Type="http://schemas.openxmlformats.org/officeDocument/2006/relationships/notesSlide" Target="/ppt/notesSlides/notesSlide16.xml" Id="R4632d89f7fac4f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ff4e1d784d70" /><Relationship Type="http://schemas.openxmlformats.org/officeDocument/2006/relationships/image" Target="/ppt/media/image4.png" Id="R80f40a96d2194a5e" /><Relationship Type="http://schemas.openxmlformats.org/officeDocument/2006/relationships/notesSlide" Target="/ppt/notesSlides/notesSlide17.xml" Id="Re4c20828ee3c45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88da26f7a4531" /><Relationship Type="http://schemas.openxmlformats.org/officeDocument/2006/relationships/image" Target="/ppt/media/image5.png" Id="Rafc016598f9e4d44" /><Relationship Type="http://schemas.openxmlformats.org/officeDocument/2006/relationships/notesSlide" Target="/ppt/notesSlides/notesSlide18.xml" Id="R188bd5ba4f894e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9d2dd7ff43ba" /><Relationship Type="http://schemas.openxmlformats.org/officeDocument/2006/relationships/image" Target="/ppt/media/image6.png" Id="R260487313feb4d33" /><Relationship Type="http://schemas.openxmlformats.org/officeDocument/2006/relationships/notesSlide" Target="/ppt/notesSlides/notesSlide19.xml" Id="Rd06322b26d874e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9177361aa4fc2" /><Relationship Type="http://schemas.openxmlformats.org/officeDocument/2006/relationships/image" Target="/ppt/media/image7.png" Id="Rf41038fd199347f3" /><Relationship Type="http://schemas.openxmlformats.org/officeDocument/2006/relationships/notesSlide" Target="/ppt/notesSlides/notesSlide20.xml" Id="Rc6cb393f77a94c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b84dc46f84c74" /><Relationship Type="http://schemas.openxmlformats.org/officeDocument/2006/relationships/image" Target="/ppt/media/image8.png" Id="R8b40b79bc0b34f6d" /><Relationship Type="http://schemas.openxmlformats.org/officeDocument/2006/relationships/notesSlide" Target="/ppt/notesSlides/notesSlide21.xml" Id="R72c33098be4043f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bc485d904b9a" /><Relationship Type="http://schemas.openxmlformats.org/officeDocument/2006/relationships/image" Target="/ppt/media/image9.png" Id="R3f20b12ca0b54d4c" /><Relationship Type="http://schemas.openxmlformats.org/officeDocument/2006/relationships/notesSlide" Target="/ppt/notesSlides/notesSlide22.xml" Id="Rdedb9e75f8a043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493feb0ac42ff" /><Relationship Type="http://schemas.openxmlformats.org/officeDocument/2006/relationships/notesSlide" Target="/ppt/notesSlides/notesSlide23.xml" Id="Ra1fcd39769bf49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4d170c09a4934" /><Relationship Type="http://schemas.openxmlformats.org/officeDocument/2006/relationships/image" Target="/ppt/media/image10.png" Id="R27ecfade51f9460c" /><Relationship Type="http://schemas.openxmlformats.org/officeDocument/2006/relationships/notesSlide" Target="/ppt/notesSlides/notesSlide24.xml" Id="Re3b8406b3ca143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b240db5e24a58" /><Relationship Type="http://schemas.openxmlformats.org/officeDocument/2006/relationships/image" Target="/ppt/media/image11.png" Id="R33d0a303c78842fd" /><Relationship Type="http://schemas.openxmlformats.org/officeDocument/2006/relationships/notesSlide" Target="/ppt/notesSlides/notesSlide25.xml" Id="R9188742363e648b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032c8f0004b5c" /><Relationship Type="http://schemas.openxmlformats.org/officeDocument/2006/relationships/notesSlide" Target="/ppt/notesSlides/notesSlide26.xml" Id="Rd64001ba97664f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5d5f1d4b442f2" /><Relationship Type="http://schemas.openxmlformats.org/officeDocument/2006/relationships/notesSlide" Target="/ppt/notesSlides/notesSlide27.xml" Id="Rc4e70837eca448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aac6ac2104c05" /><Relationship Type="http://schemas.openxmlformats.org/officeDocument/2006/relationships/notesSlide" Target="/ppt/notesSlides/notesSlide28.xml" Id="R13c01b8488b945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1dc9feff1450a" /><Relationship Type="http://schemas.openxmlformats.org/officeDocument/2006/relationships/notesSlide" Target="/ppt/notesSlides/notesSlide29.xml" Id="R7f718bd32a464d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07df21e484c14" /><Relationship Type="http://schemas.openxmlformats.org/officeDocument/2006/relationships/notesSlide" Target="/ppt/notesSlides/notesSlide30.xml" Id="Rd2f8b49e753344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4cfc8ddf744b3" /><Relationship Type="http://schemas.openxmlformats.org/officeDocument/2006/relationships/notesSlide" Target="/ppt/notesSlides/notesSlide31.xml" Id="R5eed63c72b07481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3a2455b64c3c" /><Relationship Type="http://schemas.openxmlformats.org/officeDocument/2006/relationships/notesSlide" Target="/ppt/notesSlides/notesSlide32.xml" Id="R267241e5e6234a3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833dc3ed84a8d" /><Relationship Type="http://schemas.openxmlformats.org/officeDocument/2006/relationships/image" Target="/ppt/media/image12.png" Id="Rdb18855ba46745b6" /><Relationship Type="http://schemas.openxmlformats.org/officeDocument/2006/relationships/notesSlide" Target="/ppt/notesSlides/notesSlide33.xml" Id="R03df3e42099544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B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980ED-9B4E-48B0-A84A-C8C6A14A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9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a0224c6c54670"/>
          <a:stretch xmlns:a="http://schemas.openxmlformats.org/drawingml/2006/main"/>
        </p:blipFill>
        <p:spPr>
          <a:xfrm xmlns:a="http://schemas.openxmlformats.org/drawingml/2006/main">
            <a:off x="838200" y="95250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B678E-F057-497C-B8DC-B5D0093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9D8FF"/>
                </a:solidFill>
              </a:defRPr>
            </a:pPr>
            <a:r>
              <a:rPr sz="1200" b="1" i="0">
                <a:solidFill>
                  <a:srgbClr val="A9D8FF"/>
                </a:solidFill>
              </a:rPr>
              <a:t>SOUTENANCE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DAB99-BEC0-4864-81A7-2D104ED5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Competencia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E8922-10E2-4673-90D5-F54BA22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CE7FF"/>
                </a:solidFill>
              </a:defRPr>
            </a:pPr>
            <a:r>
              <a:rPr sz="1650" b="0" i="0">
                <a:solidFill>
                  <a:srgbClr val="DCE7FF"/>
                </a:solidFill>
              </a:rPr>
              <a:t>Plateforme d’intelligence artificielle générative pour l’ingénierie pédagogique des formateurs OFPPT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FEF3D-B66B-44BD-A41B-090B2BF5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ElMustapha EZZOUHIR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Encadré par : Mustapha LOUAFIR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9FBA4-E456-4FD3-BB6F-07B2BE0E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E9B"/>
                </a:solidFill>
              </a:defRPr>
            </a:pPr>
            <a:r>
              <a:rPr sz="1350" b="1" i="0">
                <a:solidFill>
                  <a:srgbClr val="123E9B"/>
                </a:solidFill>
              </a:rPr>
              <a:t>Concours de promotion interne — Échelle 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FB546-4C54-4BA5-B712-B531058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</a:defRPr>
            </a:pPr>
            <a:r>
              <a:rPr sz="3000" b="1" i="0">
                <a:solidFill>
                  <a:srgbClr val="101828"/>
                </a:solidFill>
              </a:rPr>
              <a:t>Préparer mieux.</a:t>
            </a:r>
          </a:p>
          <a:p xmlns:a="http://schemas.openxmlformats.org/drawingml/2006/main">
            <a:pPr algn="l">
              <a:defRPr sz="3000" b="1" i="0">
                <a:solidFill>
                  <a:srgbClr val="101828"/>
                </a:solidFill>
              </a:defRPr>
            </a:pPr>
            <a:r>
              <a:rPr sz="3000" b="1" i="0">
                <a:solidFill>
                  <a:srgbClr val="101828"/>
                </a:solidFill>
              </a:rPr>
              <a:t>En moins de deux minutes.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D01A1-74EC-420B-9017-8A7CFA90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FBFA1-A3C0-4432-A7AC-450E105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Une innovation pédagogique ancrée dans le référentiel OFPPT.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08298-8E4F-437B-8297-1B3588F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91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5287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9AA24-CBC8-44D6-A92D-D950A3D9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POINT DE DÉPART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20113-517E-45FF-AB04-30BB91F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formateur doit consacrer son énergie à la pédagogie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438F-6B5D-4FCA-BC0C-01468D36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production documentaire prend trop de place dans le quotidien.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287B7-750D-4721-AAAB-9CE034D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11251-6895-4816-A12A-7B42E752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C41A3-2D95-430D-A261-E95F44B8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92CAA-BE89-4699-8306-33B12A6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E5484D"/>
                </a:solidFill>
              </a:defRPr>
            </a:pPr>
            <a:r>
              <a:rPr sz="3450" b="1" i="0">
                <a:solidFill>
                  <a:srgbClr val="E5484D"/>
                </a:solidFill>
              </a:rPr>
              <a:t>1 à 3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B2FC4-510A-4959-B819-69B15FB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pour préparer une séance conforme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A69B-4743-465F-A79B-86D4EA8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9009"/>
                </a:solidFill>
              </a:defRPr>
            </a:pPr>
            <a:r>
              <a:rPr sz="3450" b="1" i="0">
                <a:solidFill>
                  <a:srgbClr val="F79009"/>
                </a:solidFill>
              </a:rPr>
              <a:t>20–25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2A4AD-0F7A-4FA3-8528-4A7D405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par mois pour 20 séances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044DF-AFD9-4504-A4CD-736B4E99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B76A"/>
                </a:solidFill>
              </a:defRPr>
            </a:pPr>
            <a:r>
              <a:rPr sz="3450" b="1" i="0">
                <a:solidFill>
                  <a:srgbClr val="12B76A"/>
                </a:solidFill>
              </a:rPr>
              <a:t>&lt; 2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59084-69FE-4757-A5B6-78078CC5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avec Competencia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39697-E1CD-4E66-9E4B-46BFC3B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5414C-50AB-4AB3-AE27-9C6C827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Le projet ne remplace pas l’expertise du formateur : il la rend immédiatement exploitable.</a:t>
            </a:r>
          </a:p>
        </p:txBody>
      </p:sp>
    </p:spTree>
    <p:extLst>
      <p:ext uri="{BB962C8B-B14F-4D97-AF65-F5344CB8AC3E}">
        <p14:creationId xmlns:p14="http://schemas.microsoft.com/office/powerpoint/2010/main" val="1625422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0376A-8BB6-4668-893E-233E4F8E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CONTEXTE INSTITUTIONNEL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F2A0E-BCE0-4482-9298-78D8CE93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La transformation numérique crée une fenêtre d’action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6E9F6-AED1-4ADC-91D4-A57F6CA4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projet s’inscrit dans la modernisation de la formation professionnelle au Maroc.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C9641-701D-4DD8-AD2D-5B160E6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4C7BC-BDCD-4B14-B1C1-4B7D7284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C429C-E3B4-4B3F-9E5A-18FAB3B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9D172-42F5-4ABB-A4C8-C8144E26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8B8D-DA9E-4E1E-8385-BE8C5AA7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Former des compétences adaptées aux besoins de l’économie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4AB48-8299-4B75-886C-3B405DDB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927F3-ADD7-4D62-AC71-F89576B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Équiper les établissements et accompagner les formateurs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1DD86-C3F4-49AA-8A67-39693265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E59B4-76E0-41C8-80B3-628C9CF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Intégrer l’IA dans des pratiques pédagogiques concrètes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B1E55-F1B0-480E-B939-06467644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4EC1F-3139-45A9-A2C9-AE146B75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98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23E9B"/>
                </a:solidFill>
              </a:defRPr>
            </a:pPr>
            <a:r>
              <a:rPr sz="2550" b="1" i="0">
                <a:solidFill>
                  <a:srgbClr val="123E9B"/>
                </a:solidFill>
              </a:rPr>
              <a:t>OFPPT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6CDAD-8051-46F7-8171-50ECE38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76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EFP  →  DR  →  DG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123BA-E087-4371-B95D-6FE3A1A7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67085"/>
                </a:solidFill>
              </a:defRPr>
            </a:pPr>
            <a:r>
              <a:rPr sz="1200" b="0" i="0">
                <a:solidFill>
                  <a:srgbClr val="667085"/>
                </a:solidFill>
              </a:rPr>
              <a:t>Une logique de proximité, de mutualisation et de pilotage.</a:t>
            </a:r>
          </a:p>
        </p:txBody>
      </p:sp>
    </p:spTree>
    <p:extLst>
      <p:ext uri="{BB962C8B-B14F-4D97-AF65-F5344CB8AC3E}">
        <p14:creationId xmlns:p14="http://schemas.microsoft.com/office/powerpoint/2010/main" val="1440252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2E0C6-8478-4EC0-9787-475778D0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TERRAIN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8C71-8728-4B19-B56E-43C445DE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L’enquête confirme un problème de productivité et de capitalisation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E9CA6-4DE3-4BF6-98E4-2B1F0263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47 formateurs ont nourri l’analyse de l’existant.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3AE9D-0832-4254-A450-340D4845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A0347-CEC4-4BD3-9FD0-7D4E53A4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A36F2-1831-484B-BA47-B6580E60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47C99-34D2-4A6A-9D26-2222183C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3E9B"/>
                </a:solidFill>
              </a:defRPr>
            </a:pPr>
            <a:r>
              <a:rPr sz="3450" b="1" i="0">
                <a:solidFill>
                  <a:srgbClr val="123E9B"/>
                </a:solidFill>
              </a:rPr>
              <a:t>95 %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C1495-13AC-4835-A618-03FF60C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utilisent Word comme outil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7A0DE-31E9-425B-AEB0-D8415F31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9009"/>
                </a:solidFill>
              </a:defRPr>
            </a:pPr>
            <a:r>
              <a:rPr sz="3450" b="1" i="0">
                <a:solidFill>
                  <a:srgbClr val="F79009"/>
                </a:solidFill>
              </a:rPr>
              <a:t>&lt; 20 %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CBBFB-797C-4DA2-B20D-8A3018BD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disposent d’un modèle standardisé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35368-8E7D-4794-AC66-4F4B164A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B76A"/>
                </a:solidFill>
              </a:defRPr>
            </a:pPr>
            <a:r>
              <a:rPr sz="3450" b="1" i="0">
                <a:solidFill>
                  <a:srgbClr val="12B76A"/>
                </a:solidFill>
              </a:rPr>
              <a:t>85 %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A3048-AB7F-436E-86E5-19FF3AF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sont intéressés par la génération automatique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6F3A9-EE00-444C-B00E-7C2ADF8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8"/>
                </a:solidFill>
              </a:defRPr>
            </a:pPr>
            <a:r>
              <a:rPr sz="1875" b="1" i="0">
                <a:solidFill>
                  <a:srgbClr val="101828"/>
                </a:solidFill>
              </a:rPr>
              <a:t>Le problème n’est pas Word. C’est l’absence d’un environnement commun, structuré et réutilisable.</a:t>
            </a:r>
          </a:p>
        </p:txBody>
      </p:sp>
    </p:spTree>
    <p:extLst>
      <p:ext uri="{BB962C8B-B14F-4D97-AF65-F5344CB8AC3E}">
        <p14:creationId xmlns:p14="http://schemas.microsoft.com/office/powerpoint/2010/main" val="1141550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888B1-6C7A-4309-9518-9E61A67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LES DYSFONCTIONNEMENTS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46527-D6A5-44C7-B129-5AE1CF4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Cinq frictions transforment un travail utile en tâches répétitives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C883E-19C7-49AA-B5FD-C8BF46CB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Elles touchent le temps, la qualité et la continuité pédagogique.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658E-BD5A-48C9-8DCB-7F25B63F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88C7D-9CFC-4DB8-898D-29F4ED11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33F89-7180-413A-8469-1CF7B726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CA385-23B8-49CE-B01C-25A81E15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774BC-2331-4B8A-8D1E-D49F4B2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8"/>
                </a:solidFill>
              </a:defRPr>
            </a:pPr>
            <a:r>
              <a:rPr sz="1575" b="1" i="0">
                <a:solidFill>
                  <a:srgbClr val="101828"/>
                </a:solidFill>
              </a:rPr>
              <a:t>Temps de production excessif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97B39-BA5E-4316-989E-68D1AA3D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Fatigue, moins de temps d’animation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50E60-117F-4DCC-AB0F-FCF032D2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4365E-F3FB-4D08-82B5-B72B66D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22AAF-7DBA-42AC-AF21-8CDD3E60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8"/>
                </a:solidFill>
              </a:defRPr>
            </a:pPr>
            <a:r>
              <a:rPr sz="1575" b="1" i="0">
                <a:solidFill>
                  <a:srgbClr val="101828"/>
                </a:solidFill>
              </a:rPr>
              <a:t>Modèles hétérogènes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354AD-26DA-45BC-8789-46D53C2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765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Qualité variable entre formateurs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E67E4-04A4-4F61-BA48-0B53DC7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B85D2-098E-4A04-9F2A-230D5D45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BBCF5-E876-4A5D-B26D-A5A2DE64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242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8"/>
                </a:solidFill>
              </a:defRPr>
            </a:pPr>
            <a:r>
              <a:rPr sz="1575" b="1" i="0">
                <a:solidFill>
                  <a:srgbClr val="101828"/>
                </a:solidFill>
              </a:rPr>
              <a:t>Référentiel peu intégré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1FA065-8233-441C-B044-DFB1337B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242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Compétences parfois mal couvertes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ADC13-5D01-4280-BCEF-A110924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3750F-6D8A-47A6-89EF-E4E3B542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06AC2-F8D1-49EE-85A4-09C47DC0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719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8"/>
                </a:solidFill>
              </a:defRPr>
            </a:pPr>
            <a:r>
              <a:rPr sz="1575" b="1" i="0">
                <a:solidFill>
                  <a:srgbClr val="101828"/>
                </a:solidFill>
              </a:rPr>
              <a:t>Ressources isolées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0B89D-2321-44BF-97A0-E0A373FC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719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Perte de mémoire pédagogique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6808B-0987-4412-BD72-3047DB71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0DEF0-BDD3-4338-8B1B-B782A20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EB184-6A6C-4560-B146-618B7E5D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9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8"/>
                </a:solidFill>
              </a:defRPr>
            </a:pPr>
            <a:r>
              <a:rPr sz="1575" b="1" i="0">
                <a:solidFill>
                  <a:srgbClr val="101828"/>
                </a:solidFill>
              </a:rPr>
              <a:t>Suivi peu traçable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A2AB3-D592-4F0E-8EEC-13F80FD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196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Reporting long et fragile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336E6-08D7-4DFD-9744-6B41E417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985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8FEDD-5183-4A4C-AD22-CA053C4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LA PROBLÉMATIQUE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ED4E2-FE3D-481E-B9A3-6162A78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Comment faire de l’IA un levier de productivité pédagogique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F381D-F6A6-4780-85A5-E2EB345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réponse doit respecter la complexité des documents et l’exigence du référentiel.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ED830-29D2-42BD-BB75-19E601AB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A998F-1A05-4029-83DA-BEA3BFF2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20062-1D91-4A5A-BCB4-DD1C013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46A26-93F4-4F74-8C13-CB03F5FD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906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8DD0E-6962-4B80-AF9E-E702383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23E9B"/>
                </a:solidFill>
              </a:defRPr>
            </a:pPr>
            <a:r>
              <a:rPr sz="2400" b="1" i="0">
                <a:solidFill>
                  <a:srgbClr val="123E9B"/>
                </a:solidFill>
              </a:rPr>
              <a:t>Comment automatiser la génération de ressources pédagogiques,</a:t>
            </a:r>
          </a:p>
          <a:p xmlns:a="http://schemas.openxmlformats.org/drawingml/2006/main">
            <a:pPr algn="ctr">
              <a:defRPr sz="2400" b="1" i="0">
                <a:solidFill>
                  <a:srgbClr val="123E9B"/>
                </a:solidFill>
              </a:defRPr>
            </a:pPr>
            <a:r>
              <a:rPr sz="2400" b="1" i="0">
                <a:solidFill>
                  <a:srgbClr val="123E9B"/>
                </a:solidFill>
              </a:rPr>
              <a:t>tout en garantissant leur alignement, leur partage et leur suivi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FC259-6643-4610-AFCC-E1935837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Trois exigences structurent la solution : produire juste, partager mieux, suivre dans la durée.</a:t>
            </a:r>
          </a:p>
        </p:txBody>
      </p:sp>
    </p:spTree>
    <p:extLst>
      <p:ext uri="{BB962C8B-B14F-4D97-AF65-F5344CB8AC3E}">
        <p14:creationId xmlns:p14="http://schemas.microsoft.com/office/powerpoint/2010/main" val="1870442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32B91-46F3-4BC8-89F8-1B0AF57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LES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68F4A-4F27-46C6-AF20-427F0F93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Une plateforme utile à la fois au formateur et à l’institution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86761-3536-43CD-A3C7-D2E9551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projet poursuit deux niveaux d’impact complémentaires.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5F72F-6AFF-4B93-B145-3F1E1E8E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B2D4D-63A6-42DC-9445-76A5CD2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95EA6-B948-4667-9728-B759500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9B099-F231-4087-9A76-568A050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A5DE2-F1EA-4DA2-B9D9-A2260CD4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Niveau opérationnel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01016-D980-406F-B2A1-D903519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6C5B6-2841-4B77-A292-8FDC3D8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Générer séances, fiches et évaluations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5642C-211E-43C7-95A5-D938FB9C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52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5706A-4A7E-4E62-9CBE-B20E3C50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Partager et réutiliser les ressources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0CD56-00EE-47A0-8B1D-9E8E7769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09F8B-A5AF-47B1-95C6-33620F9C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Suivre les compétences des stagiaires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1619-CA5A-48CA-88FE-F3385BA8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25256-170E-43CB-82EA-6D6056F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B76A"/>
                </a:solidFill>
              </a:defRPr>
            </a:pPr>
            <a:r>
              <a:rPr sz="1875" b="1" i="0">
                <a:solidFill>
                  <a:srgbClr val="12B76A"/>
                </a:solidFill>
              </a:rPr>
              <a:t>Niveau institutionnel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16B7C-DD26-4FC3-BC08-8154EF87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4A01A-50D4-4127-9F4F-BDC7FEB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Visualiser l’activité pédagogique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D7B45-CA28-4A4A-B5AE-EBBDDF7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52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A1902-B94A-47DF-B458-879F1DD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Piloter EFP, DR et DG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CB1B5-B07C-45BB-8EAA-338F0B2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AA618-9D30-43B4-A0B4-BED0ECA1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Exporter des données structurées</a:t>
            </a:r>
          </a:p>
        </p:txBody>
      </p:sp>
    </p:spTree>
    <p:extLst>
      <p:ext uri="{BB962C8B-B14F-4D97-AF65-F5344CB8AC3E}">
        <p14:creationId xmlns:p14="http://schemas.microsoft.com/office/powerpoint/2010/main" val="842598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28A09-0CCE-402E-A349-ED9B337B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PARTI PRIS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D6DDDB-E1A6-4DF5-A553-67C632ED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L’IA génère, le formateur valide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EA2A-8A46-4A5F-BD5A-F647D2C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plateforme est conçue comme un assistant, pas comme un substitut.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725BA-ECA2-46A1-80D9-F94EDF7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C694D-7C26-4944-961A-AF7206A6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E1B64-A3F7-480B-BCE3-D569220A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83135-6072-4A75-B94A-965068C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Référentiel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1A29D-6736-4B0A-82E2-451E86F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2BB3D6"/>
                </a:solidFill>
              </a:defRPr>
            </a:pPr>
            <a:r>
              <a:rPr sz="262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8A77B-1942-44EE-8EBF-DC53051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Contexte pédagogique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5AD69-9C0F-47D9-9BFF-3A8FBDF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2BB3D6"/>
                </a:solidFill>
              </a:defRPr>
            </a:pPr>
            <a:r>
              <a:rPr sz="262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B5E9F-71AA-4D5F-8F8A-455A8BA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Génération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4A4AE-2E90-4297-8A6A-3B6C82AC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9B179-EBCB-4211-865E-12D79C7B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828"/>
                </a:solidFill>
              </a:defRPr>
            </a:pPr>
            <a:r>
              <a:rPr sz="2025" b="1" i="0">
                <a:solidFill>
                  <a:srgbClr val="101828"/>
                </a:solidFill>
              </a:rPr>
              <a:t>Le formateur relit, ajuste, régénère et exporte.</a:t>
            </a:r>
          </a:p>
        </p:txBody>
      </p:sp>
    </p:spTree>
    <p:extLst>
      <p:ext uri="{BB962C8B-B14F-4D97-AF65-F5344CB8AC3E}">
        <p14:creationId xmlns:p14="http://schemas.microsoft.com/office/powerpoint/2010/main" val="308603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E615CB-0465-41F3-97BB-0A27F7F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LA MÉTHODE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DD1BB-4F8E-4F12-B244-BE32A9D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 développement par itérations, guidé par le besoin réel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3C54-0976-4AAD-A544-48D5962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choix du vibe coding a accéléré le passage de l’idée à l’usage.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FD6F0-58F5-4626-8422-6AB1F566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7982D-A4D0-4DC0-9D99-A1E58F7F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FE43-51A5-4C51-8E1E-772BDD69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88BD9-0190-49A8-AD59-16260767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B655-6BDD-46A8-A315-0FBA1CF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AB244-C274-4525-9C0F-6663267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Décrire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2005E-69FA-467C-9AB6-2D91087A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Le besoin en langage naturel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F3DEA-D4A8-4901-88AC-A4CD63CD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E6C7D-EEF9-47F1-B39B-F17E588F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D86C7-16AB-42B7-98DF-E7EC01B4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C4D37-747C-42B0-AB76-CCE80D3E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Générer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F8881-CE07-4AF3-B349-70EE5F3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19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Une première version avec l’IA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C4C73-A93A-4FC8-B772-049277D3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54456-40CA-4899-8676-98CB3373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9CA61-B8AA-4BE5-9FDE-4FA6B2C7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8454C-8B30-479A-9122-983C4736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Tester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82D236-F913-4A95-803F-1F7CA865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La fonctionnalité en situation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F82B3-25A2-4B5C-9063-74A9EF1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B7EE2-E2FC-429A-AA12-882EA3BB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B1731-C9FA-4C2A-9B39-3460064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261B7-FD91-4663-841E-AA4204E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Ajuster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454C4-9D51-420A-B36F-8FF88000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Jusqu’à obtenir le comportement attendu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B2F83-B541-435B-B615-4A7024F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Rôle du porteur : décrire, tester, juger, recommencer.</a:t>
            </a:r>
          </a:p>
        </p:txBody>
      </p:sp>
    </p:spTree>
    <p:extLst>
      <p:ext uri="{BB962C8B-B14F-4D97-AF65-F5344CB8AC3E}">
        <p14:creationId xmlns:p14="http://schemas.microsoft.com/office/powerpoint/2010/main" val="5387345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69C49-D543-492A-ACB2-1766CCB7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LES UTILISATEURS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7D747-6923-447A-A43A-560F460F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formateur est le centre de gravité de la plateforme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35F82-75EF-4C77-B72F-0F42B5AD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Les autres profils bénéficient d’une vision adaptée à leur niveau d’action.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E2578-F9BB-4C9E-9C79-B0F915EE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6F9D6-E841-47F9-835E-2520649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259A4-7CD1-4870-85A2-D5332778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DE5B8-8AE2-47C6-B149-007BB647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E9B"/>
                </a:solidFill>
              </a:defRPr>
            </a:pPr>
            <a:r>
              <a:rPr sz="1425" b="1" i="0">
                <a:solidFill>
                  <a:srgbClr val="123E9B"/>
                </a:solidFill>
              </a:rPr>
              <a:t>FORMATEUR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422CB-B507-4238-A560-658F8BF2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E9B"/>
                </a:solidFill>
              </a:defRPr>
            </a:pPr>
            <a:r>
              <a:rPr sz="1425" b="1" i="0">
                <a:solidFill>
                  <a:srgbClr val="123E9B"/>
                </a:solidFill>
              </a:rPr>
              <a:t>STAGIAIRE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2B1D9-8684-41E9-ABA9-21AA8A1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E9B"/>
                </a:solidFill>
              </a:defRPr>
            </a:pPr>
            <a:r>
              <a:rPr sz="1425" b="1" i="0">
                <a:solidFill>
                  <a:srgbClr val="123E9B"/>
                </a:solidFill>
              </a:rPr>
              <a:t>EFP / DR / DG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0CAE6-F67A-4243-ACFD-6A33044A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90875"/>
            <a:ext cx="9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F52A8-C428-442A-A4F0-795C1913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9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209CE-899B-4F37-A821-3541E3E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D3A2A-C88C-44B0-987C-F7D84AFF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Produit</a:t>
            </a:r>
          </a:p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Gère</a:t>
            </a:r>
          </a:p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Suit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49470-FF29-4111-BDE9-1BADBB20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Participe</a:t>
            </a:r>
          </a:p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aux simulations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2DD89-59B2-4656-A03D-FFAD1682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190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Consulte</a:t>
            </a:r>
          </a:p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Pilote</a:t>
            </a:r>
          </a:p>
          <a:p xmlns:a="http://schemas.openxmlformats.org/drawingml/2006/main">
            <a:pPr algn="ctr">
              <a:defRPr sz="1950" b="1" i="0">
                <a:solidFill>
                  <a:srgbClr val="101828"/>
                </a:solidFill>
              </a:defRPr>
            </a:pPr>
            <a:r>
              <a:rPr sz="1950" b="1" i="0">
                <a:solidFill>
                  <a:srgbClr val="101828"/>
                </a:solidFill>
              </a:rPr>
              <a:t>Exporte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50624-0A46-43AA-A27E-C779AB2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38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Un accès par rôle pour protéger les données et clarifier les usages.</a:t>
            </a:r>
          </a:p>
        </p:txBody>
      </p:sp>
    </p:spTree>
    <p:extLst>
      <p:ext uri="{BB962C8B-B14F-4D97-AF65-F5344CB8AC3E}">
        <p14:creationId xmlns:p14="http://schemas.microsoft.com/office/powerpoint/2010/main" val="19138817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188C9-9096-46D0-B769-4804564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RÉFÉRENTIEL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0D422-8241-4F62-85A4-0FD7FA8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référentiel OFPPT devient l’épine dorsale de la génération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F9380-E06B-4CB7-9227-9934D0BC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Chaque production part d’une sélection pédagogique contextualisée.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A49E-04F0-48EA-AB53-090035D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23240-AA45-4541-ADBB-656D0D42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17CCF-8AB4-4D6B-8176-18ED997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732D3-D80A-473E-92D1-3AFDD6F6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37F9-F37B-4F63-8221-36C6C7CD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Filière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E3027-4C31-4ED9-BB8A-37547E6D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B3D6"/>
                </a:solidFill>
              </a:defRPr>
            </a:pPr>
            <a:r>
              <a:rPr sz="187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B5707-117B-4F69-80BB-80921CB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0512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64D3-F267-4DE9-95EC-9724C1C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211D7-5AE8-43DB-8C46-01C11FDF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B3D6"/>
                </a:solidFill>
              </a:defRPr>
            </a:pPr>
            <a:r>
              <a:rPr sz="187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724F5-6BD0-4F8F-A76B-36BD327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0512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F1B4B-B998-4FB0-BAC6-F937A5F5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Séquence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B95B3-A79C-4852-8B0C-035C0EC4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B3D6"/>
                </a:solidFill>
              </a:defRPr>
            </a:pPr>
            <a:r>
              <a:rPr sz="187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DDE5E-3FD2-45D8-9AF9-BD66B0D3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0512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9F8F6-2B71-4AB1-B5B3-EEF91D5A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Compétence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0671C-5A0A-423D-A90F-AC18FAA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BB3D6"/>
                </a:solidFill>
              </a:defRPr>
            </a:pPr>
            <a:r>
              <a:rPr sz="1875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F0C8A-A798-4CBE-87E1-75DD531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05125"/>
            <a:ext cx="1809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54F81-6DE7-455A-B106-CE216A3B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B76A"/>
                </a:solidFill>
              </a:defRPr>
            </a:pPr>
            <a:r>
              <a:rPr sz="1500" b="1" i="0">
                <a:solidFill>
                  <a:srgbClr val="12B76A"/>
                </a:solidFill>
              </a:rPr>
              <a:t>Objectif / critère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CE861-6C1F-4A4E-8CC5-82A0F94C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Résultat : une IA qui travaille à partir d’un contexte, et non à l’aveugle.</a:t>
            </a:r>
          </a:p>
        </p:txBody>
      </p:sp>
    </p:spTree>
    <p:extLst>
      <p:ext uri="{BB962C8B-B14F-4D97-AF65-F5344CB8AC3E}">
        <p14:creationId xmlns:p14="http://schemas.microsoft.com/office/powerpoint/2010/main" val="243737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64E9A-3E85-4619-8255-027EE82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CONCEPTION FONCTIONNELLE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00B30-DCD4-4675-8250-33B9D9D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Les cas d’utilisation couvrent toute la chaîne de valeur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5749A-709B-49C8-AFD3-1DE8238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plateforme relie production, collaboration, suivi et pilotage.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F6E55-EC8B-4624-A33D-3AD37D1E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FC644-79F8-4F4D-BB2F-BCD76E05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EDE6-B065-48DE-850E-CD53CF10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50c3520c74411"/>
          <a:stretch xmlns:a="http://schemas.openxmlformats.org/drawingml/2006/main"/>
        </p:blipFill>
        <p:spPr>
          <a:xfrm xmlns:a="http://schemas.openxmlformats.org/drawingml/2006/main">
            <a:off x="863311" y="2571750"/>
            <a:ext cx="5321877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DD310-A177-4937-8A4F-5E6695B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E9B"/>
                </a:solidFill>
              </a:defRPr>
            </a:pPr>
            <a:r>
              <a:rPr sz="1725" b="1" i="0">
                <a:solidFill>
                  <a:srgbClr val="123E9B"/>
                </a:solidFill>
              </a:rPr>
              <a:t>Actions communes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8A99D-93AD-4F70-810A-59B559F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356C-9B59-489E-841E-BA56A45B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S’authentifier et gérer son profil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3C0F1-DD31-4C17-B1FB-AD7681D9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05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F3412-27A1-4147-BC6F-1D3F32E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Consulter le tableau de bord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73A5A-27DE-4C9F-87EB-4A3A796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B650B-6FCA-4231-B532-917D627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29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Accéder aux services selon son rôle</a:t>
            </a:r>
          </a:p>
        </p:txBody>
      </p:sp>
    </p:spTree>
    <p:extLst>
      <p:ext uri="{BB962C8B-B14F-4D97-AF65-F5344CB8AC3E}">
        <p14:creationId xmlns:p14="http://schemas.microsoft.com/office/powerpoint/2010/main" val="15833155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A7C73F-4EAB-4BD7-8404-E335ED98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MODÈLE DE DONNÉES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D42AB-8858-4F55-BA7E-67121551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Une structure conçue pour relier contenus, compétences et usages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FCDAD-6064-4CE7-8D9A-3B3FB906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modèle soutient à la fois la génération et le pilotage.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5A6D9-C74C-4491-A37C-C74E54F0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99428-F5E0-437B-B964-50AE39B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09553-1A05-4957-819B-08665DC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5FF19-3261-4BD3-86DD-23D93C00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FAB66-5DE4-4DDE-B258-F1C25985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Utilisateur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EBBC0-75BB-47AE-B509-DF43B2F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rôle, établissement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D0C10-C649-4149-9D8F-C293902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FC4EB-91FA-4DDF-9174-15349B3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Référentiel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3A393-8A3F-44E7-A626-E8E829C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filière → compétence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89E14-BBAA-40ED-A95E-B4CCBBD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87514-662E-4085-8783-140DF73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Ressources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B65EE-3CD2-4FCF-97F1-ADE9A2F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séance, fiche, évaluation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6EC26-9016-4FD5-9042-3427FA04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AEA80-55B1-4F2D-9206-2B131DA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Suivi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1D6ED-5DC5-419A-BA8E-2396F15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groupe, stagiaire, 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4043A-9D6C-4D5C-B129-ADCB9D4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C24B8-F713-4D2E-816A-CB3A1A50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Collaboration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F39AC-CA1D-476A-93EE-9618BA1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24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likes, commentaires, partage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ED2CE-4D4B-4534-8743-D6304B22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2857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678D1-29B1-4447-91E1-A20CE33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Simulation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34CE9-B565-49BB-BB92-9B4DA81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24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entreprise virtuelle, run</a:t>
            </a:r>
          </a:p>
        </p:txBody>
      </p:sp>
    </p:spTree>
    <p:extLst>
      <p:ext uri="{BB962C8B-B14F-4D97-AF65-F5344CB8AC3E}">
        <p14:creationId xmlns:p14="http://schemas.microsoft.com/office/powerpoint/2010/main" val="1507368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04AB2-B887-4EE7-9D68-6515456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ARCHITECTURE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A89A-7836-41B6-BC5E-0D2724C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Une stack moderne, adaptée à une application web SaaS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2AFBC-CA1F-4EE2-9EBE-14B2DA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Les choix privilégient maturité, productivité et performances en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771DF-2C5D-4FF2-8D81-631B377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1BBD8-7BC8-47C1-96AE-4747FF4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28311-5628-4AE0-8512-218CEED8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DFE4-53D0-4936-BCBC-54A4642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Next.js /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F00ED-0B11-44E3-87F4-98F47F82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Interface et routes applicatives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9D241-A61E-42E6-8581-C960120B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2AC3-5F90-4A74-8E7F-556EF92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4D845-7F89-4F61-BCC1-7D7E37E4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Fiabilité et maintenabilité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6C2BA-7525-4AE0-A232-593EEDE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9A0F1-EF62-4C26-87BF-E7812DC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Supabase /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AA8C8-CFC7-43D9-BA4C-564C804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Données et authentification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AD38A-8337-46DB-9F52-4F7A47F2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B3DE3-466B-435C-91B7-53A3D4E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Prisma 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F8B44-2F93-40B8-9654-38861CE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Accès typé à la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4D267-BF5A-4EF2-85FF-1F77441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35EE5-BD7F-4FED-B8D1-15DECBAB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Claude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436B-8FBD-4CEF-9861-0BB9306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Extraction et génération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F979C0-8A99-4CF3-9E6F-805E6507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EFFC6-F847-461E-9542-E1FF958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Vercel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C16AF-001D-4CED-8693-0ED005CE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Hébergement et déploiement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E37E4-D43B-4200-AE8A-1B11EFF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D8ABB-FAB1-4183-856A-F2543E7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1619250" cy="21907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B1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E70BF-FCBD-4ABF-B53E-B5F889E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0375"/>
            <a:ext cx="123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IA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Web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Données</a:t>
            </a:r>
          </a:p>
        </p:txBody>
      </p:sp>
    </p:spTree>
    <p:extLst>
      <p:ext uri="{BB962C8B-B14F-4D97-AF65-F5344CB8AC3E}">
        <p14:creationId xmlns:p14="http://schemas.microsoft.com/office/powerpoint/2010/main" val="14509014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0C0C8-DCC1-4E8D-98D0-276FEA57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SÉCURITÉ ET CONTINUITÉ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08159-9294-4E02-9DDC-9565870C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Deux garde-fous protègent l’expérience utilisateur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84489-C633-48D1-AF49-95784F2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fluidité de l’IA ne doit pas fragiliser la confiance.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D8C55-3F0E-4713-A27B-90DFBC11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0700E-2908-4A69-BFC6-B020ADA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4CC3F-1B5B-408C-AA75-0ABAAA9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28469-EF98-40DB-B9D1-3735D085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191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948BE-03FB-4308-AFD6-3242836D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23E9B"/>
                </a:solidFill>
              </a:defRPr>
            </a:pPr>
            <a:r>
              <a:rPr sz="1950" b="1" i="0">
                <a:solidFill>
                  <a:srgbClr val="123E9B"/>
                </a:solidFill>
              </a:rPr>
              <a:t>Sécurité par rôle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575CE-AC1F-4238-9681-E8DA45A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Les utilisateurs accèdent uniquement</a:t>
            </a:r>
          </a:p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aux données de leur périmètre.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16FC3-2551-4545-9B05-26FF74B3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4191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2504F-7098-40ED-B8E8-2FE13028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2B76A"/>
                </a:solidFill>
              </a:defRPr>
            </a:pPr>
            <a:r>
              <a:rPr sz="1950" b="1" i="0">
                <a:solidFill>
                  <a:srgbClr val="12B76A"/>
                </a:solidFill>
              </a:rPr>
              <a:t>Fallback automatique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61DD5-6D9A-4C1A-BB0F-BDDD702C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67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Si le service principal est indisponible,</a:t>
            </a:r>
          </a:p>
          <a:p xmlns:a="http://schemas.openxmlformats.org/drawingml/2006/main">
            <a:pPr algn="ctr"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la génération bascule vers un second modèle.</a:t>
            </a:r>
          </a:p>
        </p:txBody>
      </p:sp>
    </p:spTree>
    <p:extLst>
      <p:ext uri="{BB962C8B-B14F-4D97-AF65-F5344CB8AC3E}">
        <p14:creationId xmlns:p14="http://schemas.microsoft.com/office/powerpoint/2010/main" val="10147060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8B099-7BA6-411D-B2C5-7FC7F2A8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EXPÉRIENCE CENTRALE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CFC3C-E72E-4141-B917-5B753F67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Une séance complète se construit en moins de deux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54596-C7BF-4F91-94BA-3E4C64D6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parcours réduit la saisie et laisse le contrôle au formateur.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F3345-F8A8-47A7-8B99-57C0D781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5B56F-C9DC-4FE5-A1D0-D4501E0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96484-4809-4475-B027-E3EDB32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ee6a9a4054f3c"/>
          <a:stretch xmlns:a="http://schemas.openxmlformats.org/drawingml/2006/main"/>
        </p:blipFill>
        <p:spPr>
          <a:xfrm xmlns:a="http://schemas.openxmlformats.org/drawingml/2006/main">
            <a:off x="872788" y="2428875"/>
            <a:ext cx="6731675" cy="3476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35982-C0CF-4B3F-887A-88646344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1. Sélectionner le contexte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370D2-7C66-415B-9C03-8DC99C53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2. Générer en streaming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58414-FD19-43C2-A5B8-372C6A0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3. Modifier et exporter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CDEB1-DFE9-4E3E-A58D-6864286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B76A"/>
                </a:solidFill>
              </a:defRPr>
            </a:pPr>
            <a:r>
              <a:rPr sz="1800" b="1" i="0">
                <a:solidFill>
                  <a:srgbClr val="12B76A"/>
                </a:solidFill>
              </a:rPr>
              <a:t>PDF · Word · PowerPoint</a:t>
            </a:r>
          </a:p>
        </p:txBody>
      </p:sp>
    </p:spTree>
    <p:extLst>
      <p:ext uri="{BB962C8B-B14F-4D97-AF65-F5344CB8AC3E}">
        <p14:creationId xmlns:p14="http://schemas.microsoft.com/office/powerpoint/2010/main" val="6030675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BD3C1-FF21-41EE-A7DC-BD0A33DC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SÉANCES PÉDAGOGIQUES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C1A4F-131D-48C5-B2B5-441F398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streaming transforme l’attente en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BDDAF-33CE-4EC2-854E-4015A01A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contenu apparaît ligne par ligne, pour permettre un contrôle immédiat.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A0BFB-7759-48F5-A3B0-9D4AF3F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B5170-68C9-4C5E-806E-34E3E2DB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01E39-8931-4106-811D-E6A83A11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40a96d2194a5e"/>
          <a:stretch xmlns:a="http://schemas.openxmlformats.org/drawingml/2006/main"/>
        </p:blipFill>
        <p:spPr>
          <a:xfrm xmlns:a="http://schemas.openxmlformats.org/drawingml/2006/main">
            <a:off x="871270" y="2476500"/>
            <a:ext cx="663946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00D01-BE85-46CB-9B54-2E884715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E96E9-C477-4C5F-82CF-EEA32A1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Sélection cascade : filière → module → séquence → compétence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8B645-3EC9-48AB-AE0A-7FA7CB9E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BEAB6-6C63-4815-A82B-10741C3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Instructions spécifiques optionnelles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B27FD-A9F7-40FC-B7C7-8ACC2587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697B3-B6AB-4143-B459-7A278873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Régénérer, modifier ou exporter</a:t>
            </a:r>
          </a:p>
        </p:txBody>
      </p:sp>
    </p:spTree>
    <p:extLst>
      <p:ext uri="{BB962C8B-B14F-4D97-AF65-F5344CB8AC3E}">
        <p14:creationId xmlns:p14="http://schemas.microsoft.com/office/powerpoint/2010/main" val="1721878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61DFB-0980-480F-8C42-884E4F95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FICHES PÉDAGOGIQUES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E0810-BC7A-492F-8706-D29CEE9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La même logique produit des documents homogènes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DDA9B-7174-4D94-BF78-FB0151CA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cohérence d’interface accélère la prise en 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32F37-1174-40E2-A6FE-75E3EE7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EB0D5-970B-4D53-BA1D-D002D7E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FDD34-FBA1-42C0-826D-81DD199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016598f9e4d44"/>
          <a:stretch xmlns:a="http://schemas.openxmlformats.org/drawingml/2006/main"/>
        </p:blipFill>
        <p:spPr>
          <a:xfrm xmlns:a="http://schemas.openxmlformats.org/drawingml/2006/main">
            <a:off x="858555" y="2476500"/>
            <a:ext cx="666489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B3C6-4575-42B6-877B-2B8CA2F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Paramètres pédagogiques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33DB0-0F4C-4B66-B727-880D676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Objectifs · durée · méthodes</a:t>
            </a:r>
          </a:p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consignes particulières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25BF2-0D6F-44D8-AC72-0C3E30C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B76A"/>
                </a:solidFill>
              </a:defRPr>
            </a:pPr>
            <a:r>
              <a:rPr sz="1650" b="1" i="0">
                <a:solidFill>
                  <a:srgbClr val="12B76A"/>
                </a:solidFill>
              </a:rPr>
              <a:t>Un même geste, plusieurs types de ressources.</a:t>
            </a:r>
          </a:p>
        </p:txBody>
      </p:sp>
    </p:spTree>
    <p:extLst>
      <p:ext uri="{BB962C8B-B14F-4D97-AF65-F5344CB8AC3E}">
        <p14:creationId xmlns:p14="http://schemas.microsoft.com/office/powerpoint/2010/main" val="1580662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0077F-7D23-442A-B3DF-5A252351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ÉVALUATIONS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6B393-EA68-406E-8597-D91C22D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Générer des évaluations adaptées au niveau visé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2182F-9AC1-4E1E-AC05-BC677A21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formateur choisit la forme, la difficulté et le volume.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8A317-108E-4158-8A8F-8695615D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1E78E-5D6A-411C-9336-6ED6FD94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A96E9-340B-4023-8E7A-9A65B1C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19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487313feb4d33"/>
          <a:stretch xmlns:a="http://schemas.openxmlformats.org/drawingml/2006/main"/>
        </p:blipFill>
        <p:spPr>
          <a:xfrm xmlns:a="http://schemas.openxmlformats.org/drawingml/2006/main">
            <a:off x="915537" y="2476500"/>
            <a:ext cx="6550925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642DA-B483-4C04-8E77-F09FC1FA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Paramètres configurables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CF375-13F2-4F69-A3C5-B2CD0F6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A8773-0213-4711-9720-7F87182C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Type et niveau de difficulté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1C280-7C7F-4136-826F-DB361FBB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6912A-3CAC-48A6-BCBE-5CF5A9DA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52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Nombre de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E9905-9C16-4659-A386-55A38A9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E3B50-484D-4C19-B33F-2EE581C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Objectifs pédagogiques</a:t>
            </a:r>
          </a:p>
        </p:txBody>
      </p:sp>
    </p:spTree>
    <p:extLst>
      <p:ext uri="{BB962C8B-B14F-4D97-AF65-F5344CB8AC3E}">
        <p14:creationId xmlns:p14="http://schemas.microsoft.com/office/powerpoint/2010/main" val="101089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6F67B-2C5C-4BE5-8B9B-2F35782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BIBLIOTHÈQUE COLLABORATIVE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AAAE7-6F3B-4A33-A082-5C3908D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La ressource produite une fois peut servir à plusieurs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777D3-3679-456C-BDDA-045BBE4F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capitalisation devient un réflexe collectif.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D9B21-87C9-4083-8151-9FCC80A4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42AD8-5486-4847-B256-E06C78F7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23E0D-4333-49E1-9AA9-F367F791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038fd199347f3"/>
          <a:stretch xmlns:a="http://schemas.openxmlformats.org/drawingml/2006/main"/>
        </p:blipFill>
        <p:spPr>
          <a:xfrm xmlns:a="http://schemas.openxmlformats.org/drawingml/2006/main">
            <a:off x="870939" y="2476500"/>
            <a:ext cx="664012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C56EB-D906-400D-B280-EEA8174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E9B"/>
                </a:solidFill>
              </a:defRPr>
            </a:pPr>
            <a:r>
              <a:rPr sz="1575" b="1" i="0">
                <a:solidFill>
                  <a:srgbClr val="123E9B"/>
                </a:solidFill>
              </a:rPr>
              <a:t>Rechercher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2B882-ED3D-474D-8071-F9ABCC0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 type, filière, module ou mot-clé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A1BB0-05F5-40F0-B991-7A665B04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23E9B"/>
                </a:solidFill>
              </a:defRPr>
            </a:pPr>
            <a:r>
              <a:rPr sz="1575" b="1" i="0">
                <a:solidFill>
                  <a:srgbClr val="123E9B"/>
                </a:solidFill>
              </a:rPr>
              <a:t>Partager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2E17F-1636-4605-BFF6-5B1A755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likes, commentaires, copie dans l’espace de travail</a:t>
            </a:r>
          </a:p>
        </p:txBody>
      </p:sp>
    </p:spTree>
    <p:extLst>
      <p:ext uri="{BB962C8B-B14F-4D97-AF65-F5344CB8AC3E}">
        <p14:creationId xmlns:p14="http://schemas.microsoft.com/office/powerpoint/2010/main" val="8369113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35A4F-CAF6-4375-B3F0-8BBD8A54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ASSISTANT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B32FE-F303-4595-BB63-5FE3A1A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 accompagnement conversationnel disponible au fil du travail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B1B28-D9A7-4508-9369-C531C8AF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formateur peut demander, reformuler, approfondir et réutiliser.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CDBDC-98E3-423F-A97B-2921143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C0EA5-9B6F-4FAF-8E71-CA35DB0D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F59CD-2296-4D31-8EE4-DBF3DED7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0b79bc0b34f6d"/>
          <a:stretch xmlns:a="http://schemas.openxmlformats.org/drawingml/2006/main"/>
        </p:blipFill>
        <p:spPr>
          <a:xfrm xmlns:a="http://schemas.openxmlformats.org/drawingml/2006/main">
            <a:off x="859896" y="2428875"/>
            <a:ext cx="6757458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A7A1C-02B3-4AEC-BF1F-B407756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Préparer une activité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077C0-975D-40D1-9E22-9EED5857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Reformuler un objectif</a:t>
            </a:r>
          </a:p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Créer un exercice</a:t>
            </a:r>
          </a:p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Proposer une méthode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2FE0A-EFC3-4FD0-9F21-1763ABE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B76A"/>
                </a:solidFill>
              </a:defRPr>
            </a:pPr>
            <a:r>
              <a:rPr sz="1650" b="1" i="0">
                <a:solidFill>
                  <a:srgbClr val="12B76A"/>
                </a:solidFill>
              </a:rPr>
              <a:t>La conversation devient un espace de préparation.</a:t>
            </a:r>
          </a:p>
        </p:txBody>
      </p:sp>
    </p:spTree>
    <p:extLst>
      <p:ext uri="{BB962C8B-B14F-4D97-AF65-F5344CB8AC3E}">
        <p14:creationId xmlns:p14="http://schemas.microsoft.com/office/powerpoint/2010/main" val="7566623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75A55-4009-4B7A-A8BB-79F7A9C1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COMPETENCIA SIMULATOR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917CD-DD61-4E95-8BB4-6B9B2BC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Apprendre en prenant des décisions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9FE57-4AE7-4BEB-A905-4635F83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L’entreprise virtuelle rapproche les stagiaires des situations professionnelles.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E5DF7-DFFC-49BC-8F7E-5FAC2B5E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6E901-3846-46CA-9935-30A7842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ED53D-DC5E-4721-8FA8-14CF1938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0b12ca0b54d4c"/>
          <a:stretch xmlns:a="http://schemas.openxmlformats.org/drawingml/2006/main"/>
        </p:blipFill>
        <p:spPr>
          <a:xfrm xmlns:a="http://schemas.openxmlformats.org/drawingml/2006/main">
            <a:off x="964460" y="2476500"/>
            <a:ext cx="6453081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4E1DF-A356-4593-BAEA-707AFC7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Une entreprise marocaine fictive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E2B2A-4712-45A3-B0BC-BD58D22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secteur · équipe · clients · fournisseurs</a:t>
            </a:r>
          </a:p>
          <a:p xmlns:a="http://schemas.openxmlformats.org/drawingml/2006/main">
            <a:pPr algn="l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contraintes et scénarios de décision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EE2A6-BD55-417C-A03E-2953D1F5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79009"/>
                </a:solidFill>
              </a:defRPr>
            </a:pPr>
            <a:r>
              <a:rPr sz="1425" b="1" i="0">
                <a:solidFill>
                  <a:srgbClr val="F79009"/>
                </a:solidFill>
              </a:rPr>
              <a:t>≈ 70–90 s pour générer le contexte</a:t>
            </a:r>
          </a:p>
        </p:txBody>
      </p:sp>
    </p:spTree>
    <p:extLst>
      <p:ext uri="{BB962C8B-B14F-4D97-AF65-F5344CB8AC3E}">
        <p14:creationId xmlns:p14="http://schemas.microsoft.com/office/powerpoint/2010/main" val="10470666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27ACA-71F0-498C-B9BB-DFF97885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DÉROULÉ D’UNE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DA850-CE07-4DC9-BF0F-A286F857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Six étapes font passer de la configuration au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C0DC0-5A0B-4209-8123-14DB2703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Chaque décision modifie les indicateurs de l’entreprise.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3CABC-1656-47B6-B26A-9C22A8F9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B3C36-B9F4-4A4C-979E-5B91F298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5CC7-13F4-4696-A423-70B47A3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3CFB6-9A75-4269-946E-28EA4D8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7A95F-6940-44B2-81F6-47EC9DA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Ouvrir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57B1A-8C75-4F25-B587-FB96F4DC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62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91A7E-EACF-4DD2-A554-0792311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A8BD9-B923-4513-B5B7-77E1B588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Contextualiser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146D2-A1F6-45A8-B347-477F7AB8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762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3777D-6957-4382-B3E6-87987C43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2DD94-C188-4E68-908E-F0B6B42A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Générer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A31A7-6DDC-439C-ABF5-C275B0FE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62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86DC1-0317-4F0C-BB02-21A2720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FABA3-64E6-4945-804E-B6E7F276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Lancer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E8057-DF96-4E3F-B70C-BC2319D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762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E64D1-30B8-4CE7-83FA-AD45BAE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C94AB-8F9C-41AF-80F3-866E707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Décider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8A399-CC87-4581-82AB-67F419B6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622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B6F2B-486F-43EC-9D0D-C647861E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B3D6"/>
                </a:solidFill>
              </a:defRPr>
            </a:pPr>
            <a:r>
              <a:rPr sz="2850" b="1" i="0">
                <a:solidFill>
                  <a:srgbClr val="2BB3D6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FC3C0-6EC0-4DD5-B3F5-F525482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3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E9B"/>
                </a:solidFill>
              </a:defRPr>
            </a:pPr>
            <a:r>
              <a:rPr sz="1500" b="1" i="0">
                <a:solidFill>
                  <a:srgbClr val="123E9B"/>
                </a:solidFill>
              </a:rPr>
              <a:t>Évaluer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61AF6-D135-4A20-9581-F4D1C1A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2C66C-B7D3-450A-BB0A-0D9907F3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Satisfaction client · santé financière · moral d’équipe · score global</a:t>
            </a:r>
          </a:p>
        </p:txBody>
      </p:sp>
    </p:spTree>
    <p:extLst>
      <p:ext uri="{BB962C8B-B14F-4D97-AF65-F5344CB8AC3E}">
        <p14:creationId xmlns:p14="http://schemas.microsoft.com/office/powerpoint/2010/main" val="14640940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0DAA6-7EDB-43D8-B276-E65CE78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LE RAPPORT 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5DF82-7A09-453A-98C9-7F331108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La simulation se termine par une évaluation exploitable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D305C-8FE3-4935-A211-742C650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feedback transforme l’expérience en apprentissage.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8B68B-20BF-4692-AB9F-01FAA319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A2CDD-2053-45A3-BB27-BE36F486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28EEF-DF20-4506-948D-F2DF52B6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cfade51f9460c"/>
          <a:stretch xmlns:a="http://schemas.openxmlformats.org/drawingml/2006/main"/>
        </p:blipFill>
        <p:spPr>
          <a:xfrm xmlns:a="http://schemas.openxmlformats.org/drawingml/2006/main">
            <a:off x="888477" y="2428875"/>
            <a:ext cx="6700296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98BC6-93E7-45DC-87CA-6B042D3C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Le rapport couvre 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835AD-327C-4509-A8CF-31101EF8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68103-9059-4AB2-BA75-60B6884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note sur 20 et score pédagogique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1992C-0570-4CAD-82C4-E92F320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DBEA6-CEF4-482D-91E3-D2AA7CE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compétences mobilisées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965C4-2597-4D96-9A7D-CE60B41D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BB3D6"/>
                </a:solidFill>
              </a:defRPr>
            </a:pPr>
            <a:r>
              <a:rPr sz="1350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452AC-29C2-4F30-8132-99976593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</a:defRPr>
            </a:pPr>
            <a:r>
              <a:rPr sz="1350" b="0" i="0">
                <a:solidFill>
                  <a:srgbClr val="101828"/>
                </a:solidFill>
              </a:rPr>
              <a:t>forces, erreurs et conseils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56816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3490D-28FB-4929-85C6-63F3B92C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TABLEAU DE BORD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4BCA4-8EAF-41F5-9D3D-14D1353A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Une vue synthétique relie production et progression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7F0A5-E0F5-433A-84C0-701B1429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 formateur voit ce qui mérite son attention aujourd’hui.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CF964-864B-44F4-9A11-4895BA9D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F3BFC-41B1-4BD5-ACEF-7FD91FCA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9F442-5331-4467-AC4E-3DD93199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0a303c78842fd"/>
          <a:stretch xmlns:a="http://schemas.openxmlformats.org/drawingml/2006/main"/>
        </p:blipFill>
        <p:spPr>
          <a:xfrm xmlns:a="http://schemas.openxmlformats.org/drawingml/2006/main">
            <a:off x="890333" y="2428875"/>
            <a:ext cx="6887084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A7633-C233-4EF8-B0EA-270EFD08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E9B"/>
                </a:solidFill>
              </a:defRPr>
            </a:pPr>
            <a:r>
              <a:rPr sz="1650" b="1" i="0">
                <a:solidFill>
                  <a:srgbClr val="123E9B"/>
                </a:solidFill>
              </a:rPr>
              <a:t>Activité récente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3A9B6-0B90-4D4B-9267-24B8F6D6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81375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Statistiques de production</a:t>
            </a:r>
          </a:p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Ressources les plus appréciées</a:t>
            </a:r>
          </a:p>
          <a:p xmlns:a="http://schemas.openxmlformats.org/drawingml/2006/main">
            <a:pPr algn="l">
              <a:defRPr sz="1500" b="0" i="0">
                <a:solidFill>
                  <a:srgbClr val="667085"/>
                </a:solidFill>
              </a:defRPr>
            </a:pPr>
            <a:r>
              <a:rPr sz="1500" b="0" i="0">
                <a:solidFill>
                  <a:srgbClr val="667085"/>
                </a:solidFill>
              </a:rPr>
              <a:t>Taux de complétion des groupes</a:t>
            </a:r>
          </a:p>
        </p:txBody>
      </p:sp>
    </p:spTree>
    <p:extLst>
      <p:ext uri="{BB962C8B-B14F-4D97-AF65-F5344CB8AC3E}">
        <p14:creationId xmlns:p14="http://schemas.microsoft.com/office/powerpoint/2010/main" val="9075491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77841-043F-4A3E-9BE4-FC02AE7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LA VALEUR CRÉÉE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4E3E9-792A-41FB-9F25-E5D1640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gain ne se limite pas à la vitesse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47DEE-D028-4742-B5A9-730770C5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Competencia IA agit sur quatre dimensions de la pratique pédagogique.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7C045-8BDF-44D4-B213-CD667A0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B94E1-F157-4D1C-97A5-3DF81AF3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22347-961C-4A4D-8AD9-7EA186B6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99BC3-3DCF-4D3A-9C7B-47145C27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5AD96-F099-4A09-BC60-5CF3BAB7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5484D"/>
                </a:solidFill>
              </a:defRPr>
            </a:pPr>
            <a:r>
              <a:rPr sz="1800" b="1" i="0">
                <a:solidFill>
                  <a:srgbClr val="E5484D"/>
                </a:solidFill>
              </a:rPr>
              <a:t>Temps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CE258-AB23-4BB6-9110-BE69D92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8"/>
                </a:solidFill>
              </a:defRPr>
            </a:pPr>
            <a:r>
              <a:rPr sz="1500" b="0" i="0">
                <a:solidFill>
                  <a:srgbClr val="101828"/>
                </a:solidFill>
              </a:rPr>
              <a:t>Préparer plus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08F8A-308D-4ABE-A197-64DAFC62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62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8DF64-C542-45F2-B309-9E455068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48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Qualité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84FD5-E7F3-4235-9F45-0712834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8"/>
                </a:solidFill>
              </a:defRPr>
            </a:pPr>
            <a:r>
              <a:rPr sz="1500" b="0" i="0">
                <a:solidFill>
                  <a:srgbClr val="101828"/>
                </a:solidFill>
              </a:rPr>
              <a:t>Structurer avec le référentiel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E3236-13D6-4B5D-93C8-7FF1F25C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883D7-EE1E-4957-B852-3965722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BB3D6"/>
                </a:solidFill>
              </a:defRPr>
            </a:pPr>
            <a:r>
              <a:rPr sz="1800" b="1" i="0">
                <a:solidFill>
                  <a:srgbClr val="2BB3D6"/>
                </a:solidFill>
              </a:rPr>
              <a:t>Capitalisation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D610E-7033-4A29-B40F-B2FD1EA6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8"/>
                </a:solidFill>
              </a:defRPr>
            </a:pPr>
            <a:r>
              <a:rPr sz="1500" b="0" i="0">
                <a:solidFill>
                  <a:srgbClr val="101828"/>
                </a:solidFill>
              </a:rPr>
              <a:t>Réutiliser l’expertise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FEE2C-7CEC-4DBF-9006-E0FE7E4C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36267-DA49-4E90-A3B6-82F33E8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48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B76A"/>
                </a:solidFill>
              </a:defRPr>
            </a:pPr>
            <a:r>
              <a:rPr sz="1800" b="1" i="0">
                <a:solidFill>
                  <a:srgbClr val="12B76A"/>
                </a:solidFill>
              </a:rPr>
              <a:t>Pilotage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A4145-C6D0-4E5F-89F0-D8510480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1828"/>
                </a:solidFill>
              </a:defRPr>
            </a:pPr>
            <a:r>
              <a:rPr sz="1500" b="0" i="0">
                <a:solidFill>
                  <a:srgbClr val="101828"/>
                </a:solidFill>
              </a:rPr>
              <a:t>Décider avec des données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ED458-9E43-4797-9BCB-8C973D53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8"/>
                </a:solidFill>
              </a:defRPr>
            </a:pPr>
            <a:r>
              <a:rPr sz="1875" b="1" i="0">
                <a:solidFill>
                  <a:srgbClr val="101828"/>
                </a:solidFill>
              </a:rPr>
              <a:t>Le formateur récupère du temps pour ce qui ne peut pas être automatisé : la relation pédagogique.</a:t>
            </a:r>
          </a:p>
        </p:txBody>
      </p:sp>
    </p:spTree>
    <p:extLst>
      <p:ext uri="{BB962C8B-B14F-4D97-AF65-F5344CB8AC3E}">
        <p14:creationId xmlns:p14="http://schemas.microsoft.com/office/powerpoint/2010/main" val="9113599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29E50-87A9-4C26-B6DF-36E5CCBE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RÉSULTATS ET RETOURS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58F41-62C2-4711-8EBB-24F78F42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Le prototype est fonctionnel et déployé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F75EC-CCDF-4B3B-930E-4714164C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Les premiers retours confirment l’intérêt d’un assistant pédagogique contextualisé.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CD3C9-A962-4A78-B6A6-3135270F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6E738-44D4-462E-841B-FEAB82E9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FBAA1-4EB9-4ECB-9075-BEE8954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9B9A1-2703-40E2-ACAC-EB98EC0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B76A"/>
                </a:solidFill>
              </a:defRPr>
            </a:pPr>
            <a:r>
              <a:rPr sz="3450" b="1" i="0">
                <a:solidFill>
                  <a:srgbClr val="12B76A"/>
                </a:solidFill>
              </a:rPr>
              <a:t>Fonctionnelle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91179-E3DE-406F-89B2-2C6934A9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plateforme web déployée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3FBAF-C893-452E-A892-482F5779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23E9B"/>
                </a:solidFill>
              </a:defRPr>
            </a:pPr>
            <a:r>
              <a:rPr sz="3450" b="1" i="0">
                <a:solidFill>
                  <a:srgbClr val="123E9B"/>
                </a:solidFill>
              </a:rPr>
              <a:t>Multi-format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B0EC3-FB9B-4146-93A1-BA3A6E5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PDF · Word · PowerPoint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70D69-D57C-428A-A45E-9556647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2BB3D6"/>
                </a:solidFill>
              </a:defRPr>
            </a:pPr>
            <a:r>
              <a:rPr sz="3450" b="1" i="0">
                <a:solidFill>
                  <a:srgbClr val="2BB3D6"/>
                </a:solidFill>
              </a:rPr>
              <a:t>Multi-module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563B8-67CF-4902-9BEB-E6137C8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</a:defRPr>
            </a:pPr>
            <a:r>
              <a:rPr sz="1275" b="0" i="0">
                <a:solidFill>
                  <a:srgbClr val="667085"/>
                </a:solidFill>
              </a:rPr>
              <a:t>production · partage · suivi · simulation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CE337-579A-46A8-9BE1-13A411AE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857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9162D-481A-4A0F-98DB-6A1B45B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12B76A"/>
                </a:solidFill>
              </a:defRPr>
            </a:pPr>
            <a:r>
              <a:rPr sz="1575" b="0" i="1">
                <a:solidFill>
                  <a:srgbClr val="12B76A"/>
                </a:solidFill>
              </a:rPr>
              <a:t>« Un assistant pédagogique disponible à minuit, qui connaît le référentiel OFPPT. »</a:t>
            </a:r>
          </a:p>
        </p:txBody>
      </p:sp>
    </p:spTree>
    <p:extLst>
      <p:ext uri="{BB962C8B-B14F-4D97-AF65-F5344CB8AC3E}">
        <p14:creationId xmlns:p14="http://schemas.microsoft.com/office/powerpoint/2010/main" val="8468127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BE183-6833-469E-9719-0E26B54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LIMITES À GARDER EN TÊTE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D3758-E662-4AD1-8785-4EFCAA8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L’IA accélère la production, elle ne garantit pas seule la pertinence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D4621-CF5B-4EEA-9842-AA5F8A2F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validation humaine reste une étape pédagogique indispensable.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6DA1D-AE4C-4141-B5B0-AB355E76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5728D-543A-40BB-9641-4829015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41C1B-3471-4FBB-A3BC-339E3BF4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723D6-35A5-46E2-8583-FE72720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4ED48-2CE7-469E-AA1A-FD34EC9A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Les contenus doivent être relus et adaptés au groupe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0E020-092E-4325-9DB6-28D8D061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61D35-8540-4D8A-A8F2-C4DE8B7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La qualité dépend du contexte fourni et du référentiel disponible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C86E3-BC62-4621-B8D1-D003F72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BB3D6"/>
                </a:solidFill>
              </a:defRPr>
            </a:pPr>
            <a:r>
              <a:rPr sz="1575" b="1" i="0">
                <a:solidFill>
                  <a:srgbClr val="2BB3D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49475-F591-40CE-9574-3684A7A2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828"/>
                </a:solidFill>
              </a:defRPr>
            </a:pPr>
            <a:r>
              <a:rPr sz="1575" b="0" i="0">
                <a:solidFill>
                  <a:srgbClr val="101828"/>
                </a:solidFill>
              </a:rPr>
              <a:t>Les usages institutionnels exigent accompagnement et gouvernance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31462-35FC-4378-A951-42C40792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La bonne question n’est pas « l’IA peut-elle produire ? » mais « comment l’intégrer avec discernement ? »</a:t>
            </a:r>
          </a:p>
        </p:txBody>
      </p:sp>
    </p:spTree>
    <p:extLst>
      <p:ext uri="{BB962C8B-B14F-4D97-AF65-F5344CB8AC3E}">
        <p14:creationId xmlns:p14="http://schemas.microsoft.com/office/powerpoint/2010/main" val="8011277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6213D-71D5-4F53-814B-23B42722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FEUILLE DE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99120-19FB-42A5-AD9E-BDA406B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La prochaine étape est l’automatisation pédagogique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2702-48B0-4B27-8AC3-2D9FE8A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Competencia doit passer de la génération ponctuelle à la planification continue.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EA963-4B6F-49CC-975D-1D1957C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AD031-85D9-4BEE-AE86-050304F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165FB-0F70-497B-BB40-E787135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CC00D-D700-4750-81DE-24BE506F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E9B"/>
                </a:solidFill>
              </a:defRPr>
            </a:pPr>
            <a:r>
              <a:rPr sz="1200" b="1" i="0">
                <a:solidFill>
                  <a:srgbClr val="123E9B"/>
                </a:solidFill>
              </a:rPr>
              <a:t>COURT TERME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0FC46-F1D9-4537-9C1F-809B0B30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2892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B110C-47CF-4886-AB4E-C2D8E1E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Notifications et recommandations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D6A74-6F49-4EAB-B5F6-45F159F0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E9B"/>
                </a:solidFill>
              </a:defRPr>
            </a:pPr>
            <a:r>
              <a:rPr sz="1200" b="1" i="0">
                <a:solidFill>
                  <a:srgbClr val="123E9B"/>
                </a:solidFill>
              </a:rPr>
              <a:t>MOYEN TERME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5CF70-C2F2-4AD9-90B9-B48F80E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410B7-1D79-45C5-91BD-B1E5B1E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Simulation jouée directement par le stagiaire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21FC5-CFF3-488C-86A8-3C3C9D6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E9B"/>
                </a:solidFill>
              </a:defRPr>
            </a:pPr>
            <a:r>
              <a:rPr sz="1200" b="1" i="0">
                <a:solidFill>
                  <a:srgbClr val="123E9B"/>
                </a:solidFill>
              </a:rPr>
              <a:t>LONG TERME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6BE5B-39FE-41BE-BB91-058D6AB1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01F5E-B5B2-42DF-8CA7-E650512D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243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</a:defRPr>
            </a:pPr>
            <a:r>
              <a:rPr sz="1800" b="1" i="0">
                <a:solidFill>
                  <a:srgbClr val="101828"/>
                </a:solidFill>
              </a:rPr>
              <a:t>Connexion au SI OFPPT et analyse d’alignement</a:t>
            </a:r>
          </a:p>
        </p:txBody>
      </p:sp>
    </p:spTree>
    <p:extLst>
      <p:ext uri="{BB962C8B-B14F-4D97-AF65-F5344CB8AC3E}">
        <p14:creationId xmlns:p14="http://schemas.microsoft.com/office/powerpoint/2010/main" val="19941780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4B002-A9B6-4CB5-8B76-69C46B9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PERSPECTIVES FONCTIONNELLES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1C5DF-B7E0-478D-8150-DC1A7F03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Trois extensions peuvent amplifier l’impact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C62E9-C98C-4C02-A5B9-223069B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feuille de route s’appuie sur les besoins déjà observés.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E0436-8FBA-443C-9AB9-5EE5D678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B01D-23E5-41AC-83EB-DDC96FF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8EBFD-3AA7-49D5-AA3E-07A5DEB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23D64-5135-4438-99FA-19C0F6FE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08E4B-E081-41BC-A9FD-1349528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Planification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4C83F-1B67-4CAD-A495-B634569A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Programme annuel, rappels, remédiation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2CDE1-0446-44E0-B9B6-576A79FD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12EC7-9E56-410E-8B94-3CE99363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Mobilité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1ECEA-EC83-4D35-B8C0-1337363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Application native, hors ligne, dictée vocale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5127C-CF76-4D38-BB1B-64E58C59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E7BFF-1765-4EFF-AC95-2FA957D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IA avancée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CBF32-E5CE-438B-AF06-C236A183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Personnalisation, correction et dialogue naturel</a:t>
            </a:r>
          </a:p>
        </p:txBody>
      </p:sp>
    </p:spTree>
    <p:extLst>
      <p:ext uri="{BB962C8B-B14F-4D97-AF65-F5344CB8AC3E}">
        <p14:creationId xmlns:p14="http://schemas.microsoft.com/office/powerpoint/2010/main" val="15899397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FB6FF4-D946-4157-9F4C-2121B569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PERSPECTIVES INSTITUTIONNELLES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3F9C5-72C4-4944-9C9B-84996CE6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L’outil individuel peut devenir un instrument de pilotage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C241A-A8E8-4611-98F9-AB957AF8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La donnée pédagogique gagne en visibilité sans perdre sa finalité terrain.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ED244-ECDF-41DC-B987-AB4401D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2D9B9-5325-491D-A916-63ED842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F5480-7755-458D-A9DF-E634C005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FDCB-3746-4025-BBC5-226A99C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Formateur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35747-09D9-4FA2-84B0-4E08DB28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4317F-E262-417A-952A-C84166C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EFP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6954B-037F-47B6-B693-90425E9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D2B53-6321-40A4-8B28-FAB6815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DR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EB172-B1F5-457A-9DA5-39048239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B3D6"/>
                </a:solidFill>
              </a:defRPr>
            </a:pPr>
            <a:r>
              <a:rPr sz="225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17FD-A7BA-42BE-8013-E2B0DE6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23E9B"/>
                </a:solidFill>
              </a:defRPr>
            </a:pPr>
            <a:r>
              <a:rPr sz="1800" b="1" i="0">
                <a:solidFill>
                  <a:srgbClr val="123E9B"/>
                </a:solidFill>
              </a:rPr>
              <a:t>DG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1D857-4184-49C0-95CE-AFD7D358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8E797-7BA9-4BA5-9EE1-6C56790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8"/>
                </a:solidFill>
              </a:defRPr>
            </a:pPr>
            <a:r>
              <a:rPr sz="1875" b="1" i="0">
                <a:solidFill>
                  <a:srgbClr val="101828"/>
                </a:solidFill>
              </a:rPr>
              <a:t>Une chaîne de pilotage fondée sur l’activité réelle et les compétences acquises.</a:t>
            </a:r>
          </a:p>
        </p:txBody>
      </p:sp>
    </p:spTree>
    <p:extLst>
      <p:ext uri="{BB962C8B-B14F-4D97-AF65-F5344CB8AC3E}">
        <p14:creationId xmlns:p14="http://schemas.microsoft.com/office/powerpoint/2010/main" val="16957922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6320E-15A2-4AAF-A762-9520F2BB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7685A-AB38-417C-B9E0-4188DC99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Competencia IA remet la technologie à sa juste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0B0B-AC48-4B98-9D0C-218427C5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Elle libère du temps documentaire pour renforcer la relation pédagogique.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983D3-BC88-474D-8095-EA7B4882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2B786-4AAB-4B55-956D-61082E4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6EE3E-B248-4F4D-B4D5-F3C02CB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9B3D-7ACF-4E5B-825B-D360B288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Un problème vécu sur le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2C35E-74AD-4586-B354-8CA2ECEF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BB3D6"/>
                </a:solidFill>
              </a:defRPr>
            </a:pPr>
            <a:r>
              <a:rPr sz="24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C8F12-67B6-40DC-9FC2-4F991305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3E9B"/>
                </a:solidFill>
              </a:defRPr>
            </a:pPr>
            <a:r>
              <a:rPr sz="1875" b="1" i="0">
                <a:solidFill>
                  <a:srgbClr val="123E9B"/>
                </a:solidFill>
              </a:rPr>
              <a:t>Une plateforme contextualisée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6DAAF-2E4D-4AEF-AA9B-4C3BF2FE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BB3D6"/>
                </a:solidFill>
              </a:defRPr>
            </a:pPr>
            <a:r>
              <a:rPr sz="2400" b="1" i="0">
                <a:solidFill>
                  <a:srgbClr val="2BB3D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EF478-18E5-4DC8-8D2C-0926AF3E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2B76A"/>
                </a:solidFill>
              </a:defRPr>
            </a:pPr>
            <a:r>
              <a:rPr sz="1875" b="1" i="0">
                <a:solidFill>
                  <a:srgbClr val="12B76A"/>
                </a:solidFill>
              </a:rPr>
              <a:t>Un impact pédagogique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B25C2-2227-44C1-966E-45CB42FE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B3D6"/>
          </a:solidFill>
          <a:ln xmlns:a="http://schemas.openxmlformats.org/drawingml/2006/main" w="0">
            <a:solidFill>
              <a:srgbClr val="2BB3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95669-9D88-490D-951C-1EB14B9E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1828"/>
                </a:solidFill>
              </a:defRPr>
            </a:pPr>
            <a:r>
              <a:rPr sz="2175" b="1" i="0">
                <a:solidFill>
                  <a:srgbClr val="101828"/>
                </a:solidFill>
              </a:rPr>
              <a:t>L’innovation utile est celle qui s’intègre au quotidien de ceux qu’elle accompagne.</a:t>
            </a:r>
          </a:p>
        </p:txBody>
      </p:sp>
    </p:spTree>
    <p:extLst>
      <p:ext uri="{BB962C8B-B14F-4D97-AF65-F5344CB8AC3E}">
        <p14:creationId xmlns:p14="http://schemas.microsoft.com/office/powerpoint/2010/main" val="2270721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3EB3C-1CB8-4F08-A172-44D357AC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23E9B"/>
                </a:solidFill>
              </a:defRPr>
            </a:pPr>
            <a:r>
              <a:rPr sz="975" b="1" i="0">
                <a:solidFill>
                  <a:srgbClr val="123E9B"/>
                </a:solidFill>
              </a:rPr>
              <a:t>OUVERTURE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9DA03-AA7E-402F-8EC0-CEFF6910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01828"/>
                </a:solidFill>
              </a:defRPr>
            </a:pPr>
            <a:r>
              <a:rPr sz="2625" b="1" i="0">
                <a:solidFill>
                  <a:srgbClr val="101828"/>
                </a:solidFill>
              </a:rPr>
              <a:t>Merci pour votre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4CBC3-0F21-442D-9FC3-DF48A5F7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Questions et échanges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3640-8284-4988-8445-7CD5AB51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9"/>
          </a:solidFill>
          <a:ln xmlns:a="http://schemas.openxmlformats.org/drawingml/2006/main" w="0">
            <a:solidFill>
              <a:srgbClr val="D6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1BB95-B027-42FA-A3E1-ACCAF247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COMPETENCIA 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C0ECA-104B-4E5B-99AF-1F280538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67085"/>
                </a:solidFill>
              </a:defRPr>
            </a:pPr>
            <a:r>
              <a:rPr sz="825" b="0" i="0">
                <a:solidFill>
                  <a:srgbClr val="667085"/>
                </a:solidFill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3F07A-C9EC-4D3B-A28A-114E3FB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23E9B"/>
                </a:solidFill>
              </a:defRPr>
            </a:pPr>
            <a:r>
              <a:rPr sz="3600" b="1" i="0">
                <a:solidFill>
                  <a:srgbClr val="123E9B"/>
                </a:solidFill>
              </a:rPr>
              <a:t>Competencia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198F0-1167-46F5-B249-A3186A9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Transformer la préparation pédagogique</a:t>
            </a:r>
          </a:p>
          <a:p xmlns:a="http://schemas.openxmlformats.org/drawingml/2006/main">
            <a:pPr algn="l">
              <a:defRPr sz="2100" b="0" i="0">
                <a:solidFill>
                  <a:srgbClr val="101828"/>
                </a:solidFill>
              </a:defRPr>
            </a:pPr>
            <a:r>
              <a:rPr sz="2100" b="0" i="0">
                <a:solidFill>
                  <a:srgbClr val="101828"/>
                </a:solidFill>
              </a:rPr>
              <a:t>en temps gagné pour apprendre mieux.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8855ba46745b6"/>
          <a:stretch xmlns:a="http://schemas.openxmlformats.org/drawingml/2006/main"/>
        </p:blipFill>
        <p:spPr>
          <a:xfrm xmlns:a="http://schemas.openxmlformats.org/drawingml/2006/main">
            <a:off x="8572500" y="23336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6FC52-80E6-44A3-B0C6-A0C6E10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competencia.one</a:t>
            </a:r>
          </a:p>
        </p:txBody>
      </p:sp>
    </p:spTree>
    <p:extLst>
      <p:ext uri="{BB962C8B-B14F-4D97-AF65-F5344CB8AC3E}">
        <p14:creationId xmlns:p14="http://schemas.microsoft.com/office/powerpoint/2010/main" val="397756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2026-09-01T09:09:29.4820000Z</dcterms:created>
  <dcterms:modified xsi:type="dcterms:W3CDTF">2026-09-01T09:09:29.4820000Z</dcterms:modified>
</coreProperties>
</file>